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505" autoAdjust="0"/>
  </p:normalViewPr>
  <p:slideViewPr>
    <p:cSldViewPr snapToGrid="0">
      <p:cViewPr varScale="1">
        <p:scale>
          <a:sx n="79" d="100"/>
          <a:sy n="79" d="100"/>
        </p:scale>
        <p:origin x="680" y="7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24ABA-DF7E-638C-127B-BD9503EC4F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0B6C96-4E5B-1F0E-8338-9BFEA378FF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026A9D-BF3A-D427-E3D5-088A275FA457}"/>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5" name="Footer Placeholder 4">
            <a:extLst>
              <a:ext uri="{FF2B5EF4-FFF2-40B4-BE49-F238E27FC236}">
                <a16:creationId xmlns:a16="http://schemas.microsoft.com/office/drawing/2014/main" id="{7E93BE53-E6A5-9124-51D9-BA1D784481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02FB0A-B01B-141B-C9C8-0EFC2AE9C2CF}"/>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3689848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E7675-DD9F-44C0-918F-91E6252052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98C7DB-DAB6-C84A-DAA4-7B636127F4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0EEC2E-8B7B-9642-E40D-1D21C99B1A04}"/>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5" name="Footer Placeholder 4">
            <a:extLst>
              <a:ext uri="{FF2B5EF4-FFF2-40B4-BE49-F238E27FC236}">
                <a16:creationId xmlns:a16="http://schemas.microsoft.com/office/drawing/2014/main" id="{101E00F7-6D2F-5DBD-FA9C-13D2E8C692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032D61-9A9C-5383-2FCD-586482572B02}"/>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678178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2A711-99B0-E9EB-616B-88919AF76B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950000-88DB-02AE-5755-57A2E239E5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88A81C-11D1-B9F9-590D-73D88889A610}"/>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5" name="Footer Placeholder 4">
            <a:extLst>
              <a:ext uri="{FF2B5EF4-FFF2-40B4-BE49-F238E27FC236}">
                <a16:creationId xmlns:a16="http://schemas.microsoft.com/office/drawing/2014/main" id="{B56755D3-EE7C-ED34-1ED7-CCF666B3A1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6FF668-5B9F-2D29-5B5F-665D7E8CE5EF}"/>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2207412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41371-ACBC-FCC5-E721-7117F54018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7EBEB-CB8B-2B3B-705B-21F2F25DD7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20F112-322E-D551-1C70-5C55ADAFBD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E9CD44-32D6-F559-125D-53CA8E34E8C6}"/>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6" name="Footer Placeholder 5">
            <a:extLst>
              <a:ext uri="{FF2B5EF4-FFF2-40B4-BE49-F238E27FC236}">
                <a16:creationId xmlns:a16="http://schemas.microsoft.com/office/drawing/2014/main" id="{A31D38D3-2B1A-8419-E7B8-30DF81779D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F93BF3-6F23-F0D4-47CE-E86185086F63}"/>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35300975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13F1D-987D-353A-6EE2-F6F35AAC47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658711-A53A-1C1F-E3C5-E3F6DBA77D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F4C1A1-0EBB-3761-9991-7CA2B448E5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7B8853-5D20-4A79-8927-E56EBA781D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3E9E56-CF40-97D3-3051-233A703D22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EC2C64-D962-FD91-0B4F-5E988553165E}"/>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8" name="Footer Placeholder 7">
            <a:extLst>
              <a:ext uri="{FF2B5EF4-FFF2-40B4-BE49-F238E27FC236}">
                <a16:creationId xmlns:a16="http://schemas.microsoft.com/office/drawing/2014/main" id="{BD262E5A-68B0-E803-F551-1EDDBA793F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462BAA-888B-9C9D-D8D8-BE8FD49F62D8}"/>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668872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7209A-901F-5474-84AA-C3D8145F75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992E06-4236-5751-1C7A-751AAB1F467C}"/>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4" name="Footer Placeholder 3">
            <a:extLst>
              <a:ext uri="{FF2B5EF4-FFF2-40B4-BE49-F238E27FC236}">
                <a16:creationId xmlns:a16="http://schemas.microsoft.com/office/drawing/2014/main" id="{71D6D554-8274-C5E9-3033-E4046B5F0A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7C5D1B-6DE9-CE9D-7E15-E5263F331EE9}"/>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1876631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A5E543-4530-32D4-D120-15C1CA40FF26}"/>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3" name="Footer Placeholder 2">
            <a:extLst>
              <a:ext uri="{FF2B5EF4-FFF2-40B4-BE49-F238E27FC236}">
                <a16:creationId xmlns:a16="http://schemas.microsoft.com/office/drawing/2014/main" id="{47FFEEBE-A38B-D46C-2944-EDF0CBEDC4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00524B-5F2D-3394-5C18-71A673F75A08}"/>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3482375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BC188-1947-0603-33D1-42D9692BEC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89E8C0-A6E8-01EC-388E-4AA77773E4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E2CF5D-BBD3-A30A-713C-D0926C8126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15F256-1287-2C66-16D5-34DE30A06537}"/>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6" name="Footer Placeholder 5">
            <a:extLst>
              <a:ext uri="{FF2B5EF4-FFF2-40B4-BE49-F238E27FC236}">
                <a16:creationId xmlns:a16="http://schemas.microsoft.com/office/drawing/2014/main" id="{8DDC9219-A3CC-5190-4641-988A8F7A75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C982FA-61CF-5BD4-9793-EB086B0B8130}"/>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2402434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6D893-93D1-D0B1-28B3-8CDDF71185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47C0E4-C8CA-015B-A12C-04B6B64FD8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77A69C-D072-8673-22D2-43901ECD56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3CE64B-1AD5-1D91-72A2-B5A044FF5928}"/>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6" name="Footer Placeholder 5">
            <a:extLst>
              <a:ext uri="{FF2B5EF4-FFF2-40B4-BE49-F238E27FC236}">
                <a16:creationId xmlns:a16="http://schemas.microsoft.com/office/drawing/2014/main" id="{3E5D3CBB-E3C4-0EEF-BD8B-195B22F8A4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6884A1-95E6-3B36-C2FB-E3236482F5BC}"/>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1945466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69D6D-A9D1-03F6-84F8-A20E3A65CF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C62366-D5E7-16C5-CBE7-4789BAE49B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2C14C0-CE1D-8D90-E7D7-B88EF0C76D22}"/>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5" name="Footer Placeholder 4">
            <a:extLst>
              <a:ext uri="{FF2B5EF4-FFF2-40B4-BE49-F238E27FC236}">
                <a16:creationId xmlns:a16="http://schemas.microsoft.com/office/drawing/2014/main" id="{B2FF05BC-5FB2-6484-8053-F21CB36AE8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734D6-ABAB-3C6A-9F25-8E2668D3B82C}"/>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1430745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90A047-AE3D-0AB3-3E67-EDD0EC6AA6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75F19C-62AA-99C1-1F38-4DAF8D0906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C1E96-DB69-E1D2-808C-BB8E5140642C}"/>
              </a:ext>
            </a:extLst>
          </p:cNvPr>
          <p:cNvSpPr>
            <a:spLocks noGrp="1"/>
          </p:cNvSpPr>
          <p:nvPr>
            <p:ph type="dt" sz="half" idx="10"/>
          </p:nvPr>
        </p:nvSpPr>
        <p:spPr/>
        <p:txBody>
          <a:bodyPr/>
          <a:lstStyle/>
          <a:p>
            <a:fld id="{2EC4A58A-284D-4C8A-A547-FD39844A6C38}" type="datetimeFigureOut">
              <a:rPr lang="en-US" smtClean="0"/>
              <a:t>6/14/2026</a:t>
            </a:fld>
            <a:endParaRPr lang="en-US"/>
          </a:p>
        </p:txBody>
      </p:sp>
      <p:sp>
        <p:nvSpPr>
          <p:cNvPr id="5" name="Footer Placeholder 4">
            <a:extLst>
              <a:ext uri="{FF2B5EF4-FFF2-40B4-BE49-F238E27FC236}">
                <a16:creationId xmlns:a16="http://schemas.microsoft.com/office/drawing/2014/main" id="{FED1B92A-0043-878F-C65D-B354588B83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1E36E-0C1B-7BF3-0A4B-B3E3D59579AE}"/>
              </a:ext>
            </a:extLst>
          </p:cNvPr>
          <p:cNvSpPr>
            <a:spLocks noGrp="1"/>
          </p:cNvSpPr>
          <p:nvPr>
            <p:ph type="sldNum" sz="quarter" idx="12"/>
          </p:nvPr>
        </p:nvSpPr>
        <p:spPr/>
        <p:txBody>
          <a:bodyPr/>
          <a:lstStyle/>
          <a:p>
            <a:fld id="{0E9D36AE-4851-40F7-BA11-082B8B490B93}" type="slidenum">
              <a:rPr lang="en-US" smtClean="0"/>
              <a:t>‹#›</a:t>
            </a:fld>
            <a:endParaRPr lang="en-US"/>
          </a:p>
        </p:txBody>
      </p:sp>
    </p:spTree>
    <p:extLst>
      <p:ext uri="{BB962C8B-B14F-4D97-AF65-F5344CB8AC3E}">
        <p14:creationId xmlns:p14="http://schemas.microsoft.com/office/powerpoint/2010/main" val="1915528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6388BB-5A75-06AA-74C9-62D8BA9073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3C0EEE-A805-E042-3081-C9C8C15991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F6F852-FADF-A340-935B-3F9E3379DB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C4A58A-284D-4C8A-A547-FD39844A6C38}" type="datetimeFigureOut">
              <a:rPr lang="en-US" smtClean="0"/>
              <a:t>6/14/2026</a:t>
            </a:fld>
            <a:endParaRPr lang="en-US"/>
          </a:p>
        </p:txBody>
      </p:sp>
      <p:sp>
        <p:nvSpPr>
          <p:cNvPr id="5" name="Footer Placeholder 4">
            <a:extLst>
              <a:ext uri="{FF2B5EF4-FFF2-40B4-BE49-F238E27FC236}">
                <a16:creationId xmlns:a16="http://schemas.microsoft.com/office/drawing/2014/main" id="{C72C22AE-DAF5-BCDF-176E-38585D563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436BE6-729C-BC76-F636-DFCC8C9B7B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9D36AE-4851-40F7-BA11-082B8B490B93}" type="slidenum">
              <a:rPr lang="en-US" smtClean="0"/>
              <a:t>‹#›</a:t>
            </a:fld>
            <a:endParaRPr lang="en-US"/>
          </a:p>
        </p:txBody>
      </p:sp>
    </p:spTree>
    <p:extLst>
      <p:ext uri="{BB962C8B-B14F-4D97-AF65-F5344CB8AC3E}">
        <p14:creationId xmlns:p14="http://schemas.microsoft.com/office/powerpoint/2010/main" val="3184318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service.aab-edu.net/"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eservice.aab-edu.net/"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eservice.aab-edu.net/"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eservice.aab-edu.net/"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FD78E46-CBB9-C277-25C0-2EA1EB5864C2}"/>
              </a:ext>
            </a:extLst>
          </p:cNvPr>
          <p:cNvSpPr/>
          <p:nvPr/>
        </p:nvSpPr>
        <p:spPr>
          <a:xfrm>
            <a:off x="496853" y="5219363"/>
            <a:ext cx="2016019" cy="4215864"/>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HYRJE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6FEF316-00B5-755C-DA58-8B68771964E0}"/>
              </a:ext>
            </a:extLst>
          </p:cNvPr>
          <p:cNvSpPr txBox="1"/>
          <p:nvPr/>
        </p:nvSpPr>
        <p:spPr>
          <a:xfrm>
            <a:off x="2616200" y="3278310"/>
            <a:ext cx="6928328" cy="1015663"/>
          </a:xfrm>
          <a:prstGeom prst="rect">
            <a:avLst/>
          </a:prstGeom>
          <a:noFill/>
        </p:spPr>
        <p:txBody>
          <a:bodyPr wrap="square" rtlCol="0">
            <a:spAutoFit/>
          </a:bodyPr>
          <a:lstStyle/>
          <a:p>
            <a:pPr algn="ctr"/>
            <a:r>
              <a:rPr lang="sq-AL" sz="2000" b="1" dirty="0">
                <a:solidFill>
                  <a:schemeClr val="bg2"/>
                </a:solidFill>
                <a:latin typeface="Times New Roman" panose="02020603050405020304" pitchFamily="18" charset="0"/>
                <a:cs typeface="Times New Roman" panose="02020603050405020304" pitchFamily="18" charset="0"/>
              </a:rPr>
              <a:t>IMPLEMENTIMI I PROTOKOLLIT SSH PER MENAXHIM TE SIGURT TE ROUTER- VE DHE SWITCH-VE</a:t>
            </a:r>
            <a:endParaRPr lang="en-US" sz="2000" dirty="0">
              <a:solidFill>
                <a:schemeClr val="bg2"/>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613478B-50CB-7191-682D-D547E355235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7544" y="98747"/>
            <a:ext cx="2192598" cy="1772863"/>
          </a:xfrm>
          <a:prstGeom prst="rect">
            <a:avLst/>
          </a:prstGeom>
          <a:effectLst>
            <a:glow rad="1460500">
              <a:srgbClr val="C00000">
                <a:alpha val="0"/>
              </a:srgbClr>
            </a:glow>
          </a:effectLst>
        </p:spPr>
      </p:pic>
      <p:sp>
        <p:nvSpPr>
          <p:cNvPr id="9" name="TextBox 8">
            <a:extLst>
              <a:ext uri="{FF2B5EF4-FFF2-40B4-BE49-F238E27FC236}">
                <a16:creationId xmlns:a16="http://schemas.microsoft.com/office/drawing/2014/main" id="{93BFDD93-54B2-8AE3-AADC-31FDA89F8159}"/>
              </a:ext>
            </a:extLst>
          </p:cNvPr>
          <p:cNvSpPr txBox="1"/>
          <p:nvPr/>
        </p:nvSpPr>
        <p:spPr>
          <a:xfrm>
            <a:off x="3136338" y="328379"/>
            <a:ext cx="5919324" cy="781111"/>
          </a:xfrm>
          <a:prstGeom prst="rect">
            <a:avLst/>
          </a:prstGeom>
          <a:noFill/>
        </p:spPr>
        <p:txBody>
          <a:bodyPr wrap="square">
            <a:spAutoFit/>
          </a:bodyPr>
          <a:lstStyle/>
          <a:p>
            <a:pPr marL="0" marR="0" algn="ctr">
              <a:lnSpc>
                <a:spcPct val="107000"/>
              </a:lnSpc>
              <a:spcAft>
                <a:spcPts val="800"/>
              </a:spcAft>
              <a:buNone/>
            </a:pPr>
            <a:r>
              <a:rPr lang="en-US" sz="4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a:t>
            </a:r>
            <a:r>
              <a:rPr lang="sq-AL" sz="4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OLEGJI AAB</a:t>
            </a:r>
            <a:endParaRPr lang="en-US" sz="44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671E139E-1F07-4C60-E482-7DB726B9D6DD}"/>
              </a:ext>
            </a:extLst>
          </p:cNvPr>
          <p:cNvSpPr/>
          <p:nvPr/>
        </p:nvSpPr>
        <p:spPr>
          <a:xfrm>
            <a:off x="4795097" y="5743647"/>
            <a:ext cx="2057279" cy="4215864"/>
          </a:xfrm>
          <a:prstGeom prst="roundRect">
            <a:avLst>
              <a:gd name="adj" fmla="val 48432"/>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SSH-SECURE SHELL, TELNET</a:t>
            </a:r>
          </a:p>
        </p:txBody>
      </p:sp>
      <p:sp>
        <p:nvSpPr>
          <p:cNvPr id="16" name="Rectangle: Rounded Corners 15">
            <a:extLst>
              <a:ext uri="{FF2B5EF4-FFF2-40B4-BE49-F238E27FC236}">
                <a16:creationId xmlns:a16="http://schemas.microsoft.com/office/drawing/2014/main" id="{A53D6C59-AD36-6100-68F2-A752E65FFF0F}"/>
              </a:ext>
            </a:extLst>
          </p:cNvPr>
          <p:cNvSpPr/>
          <p:nvPr/>
        </p:nvSpPr>
        <p:spPr>
          <a:xfrm>
            <a:off x="9305819" y="5379178"/>
            <a:ext cx="2057279" cy="4215864"/>
          </a:xfrm>
          <a:prstGeom prst="roundRect">
            <a:avLst>
              <a:gd name="adj" fmla="val 484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Times New Roman" panose="02020603050405020304" pitchFamily="18" charset="0"/>
                <a:cs typeface="Times New Roman" panose="02020603050405020304" pitchFamily="18" charset="0"/>
              </a:rPr>
              <a:t>IMPLEMENTIMI ME PACKET TRACER</a:t>
            </a:r>
          </a:p>
        </p:txBody>
      </p:sp>
      <p:sp>
        <p:nvSpPr>
          <p:cNvPr id="17" name="TextBox 16">
            <a:extLst>
              <a:ext uri="{FF2B5EF4-FFF2-40B4-BE49-F238E27FC236}">
                <a16:creationId xmlns:a16="http://schemas.microsoft.com/office/drawing/2014/main" id="{3FB41E47-F413-03A8-0C0B-E6A08C209649}"/>
              </a:ext>
            </a:extLst>
          </p:cNvPr>
          <p:cNvSpPr txBox="1"/>
          <p:nvPr/>
        </p:nvSpPr>
        <p:spPr>
          <a:xfrm>
            <a:off x="216484" y="4434532"/>
            <a:ext cx="2399716" cy="369332"/>
          </a:xfrm>
          <a:prstGeom prst="rect">
            <a:avLst/>
          </a:prstGeom>
          <a:noFill/>
        </p:spPr>
        <p:txBody>
          <a:bodyPr wrap="square" rtlCol="0">
            <a:spAutoFit/>
          </a:bodyPr>
          <a:lstStyle/>
          <a:p>
            <a:pPr algn="ctr"/>
            <a:r>
              <a:rPr lang="en-US" dirty="0" err="1">
                <a:solidFill>
                  <a:schemeClr val="bg1"/>
                </a:solidFill>
                <a:latin typeface="Times New Roman" panose="02020603050405020304" pitchFamily="18" charset="0"/>
                <a:cs typeface="Times New Roman" panose="02020603050405020304" pitchFamily="18" charset="0"/>
              </a:rPr>
              <a:t>Punoi</a:t>
            </a:r>
            <a:r>
              <a:rPr lang="en-US" dirty="0">
                <a:solidFill>
                  <a:schemeClr val="bg1"/>
                </a:solidFill>
                <a:latin typeface="Times New Roman" panose="02020603050405020304" pitchFamily="18" charset="0"/>
                <a:cs typeface="Times New Roman" panose="02020603050405020304" pitchFamily="18" charset="0"/>
              </a:rPr>
              <a:t>: Leonida Gjocaj</a:t>
            </a:r>
          </a:p>
        </p:txBody>
      </p:sp>
      <p:sp>
        <p:nvSpPr>
          <p:cNvPr id="18" name="TextBox 17">
            <a:extLst>
              <a:ext uri="{FF2B5EF4-FFF2-40B4-BE49-F238E27FC236}">
                <a16:creationId xmlns:a16="http://schemas.microsoft.com/office/drawing/2014/main" id="{440C1A22-A3D6-B0A4-5E41-FB0B5897F2EF}"/>
              </a:ext>
            </a:extLst>
          </p:cNvPr>
          <p:cNvSpPr txBox="1"/>
          <p:nvPr/>
        </p:nvSpPr>
        <p:spPr>
          <a:xfrm>
            <a:off x="9287988" y="4345940"/>
            <a:ext cx="2399716" cy="1200329"/>
          </a:xfrm>
          <a:prstGeom prst="rect">
            <a:avLst/>
          </a:prstGeom>
          <a:noFill/>
        </p:spPr>
        <p:txBody>
          <a:bodyPr wrap="square" rtlCol="0">
            <a:spAutoFit/>
          </a:bodyPr>
          <a:lstStyle/>
          <a:p>
            <a:pPr algn="ctr"/>
            <a:r>
              <a:rPr lang="en-US" dirty="0" err="1">
                <a:solidFill>
                  <a:schemeClr val="bg1"/>
                </a:solidFill>
                <a:latin typeface="Times New Roman" panose="02020603050405020304" pitchFamily="18" charset="0"/>
                <a:cs typeface="Times New Roman" panose="02020603050405020304" pitchFamily="18" charset="0"/>
              </a:rPr>
              <a:t>Profesor</a:t>
            </a:r>
            <a:r>
              <a:rPr lang="en-US" dirty="0">
                <a:solidFill>
                  <a:schemeClr val="bg1"/>
                </a:solidFill>
                <a:latin typeface="Times New Roman" panose="02020603050405020304" pitchFamily="18" charset="0"/>
                <a:cs typeface="Times New Roman" panose="02020603050405020304" pitchFamily="18" charset="0"/>
              </a:rPr>
              <a:t>: Taulant Zeka</a:t>
            </a:r>
          </a:p>
          <a:p>
            <a:pPr algn="ctr"/>
            <a:r>
              <a:rPr lang="en-US" dirty="0">
                <a:solidFill>
                  <a:schemeClr val="bg1"/>
                </a:solidFill>
                <a:latin typeface="Times New Roman" panose="02020603050405020304" pitchFamily="18" charset="0"/>
                <a:cs typeface="Times New Roman" panose="02020603050405020304" pitchFamily="18" charset="0"/>
              </a:rPr>
              <a:t>Lenda: </a:t>
            </a:r>
            <a:r>
              <a:rPr lang="en-US" dirty="0" err="1">
                <a:solidFill>
                  <a:schemeClr val="bg1"/>
                </a:solidFill>
                <a:latin typeface="Times New Roman" panose="02020603050405020304" pitchFamily="18" charset="0"/>
                <a:cs typeface="Times New Roman" panose="02020603050405020304" pitchFamily="18" charset="0"/>
              </a:rPr>
              <a:t>Siguria</a:t>
            </a:r>
            <a:r>
              <a:rPr lang="en-US" dirty="0">
                <a:solidFill>
                  <a:schemeClr val="bg1"/>
                </a:solidFill>
                <a:latin typeface="Times New Roman" panose="02020603050405020304" pitchFamily="18" charset="0"/>
                <a:cs typeface="Times New Roman" panose="02020603050405020304" pitchFamily="18" charset="0"/>
              </a:rPr>
              <a:t> ne </a:t>
            </a:r>
            <a:r>
              <a:rPr lang="en-US" dirty="0" err="1">
                <a:solidFill>
                  <a:schemeClr val="bg1"/>
                </a:solidFill>
                <a:latin typeface="Times New Roman" panose="02020603050405020304" pitchFamily="18" charset="0"/>
                <a:cs typeface="Times New Roman" panose="02020603050405020304" pitchFamily="18" charset="0"/>
              </a:rPr>
              <a:t>Rrjetat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Kompjuterike</a:t>
            </a:r>
            <a:r>
              <a:rPr lang="en-US" dirty="0">
                <a:solidFill>
                  <a:schemeClr val="bg1"/>
                </a:solidFill>
                <a:latin typeface="Times New Roman" panose="02020603050405020304" pitchFamily="18" charset="0"/>
                <a:cs typeface="Times New Roman" panose="02020603050405020304" pitchFamily="18" charset="0"/>
              </a:rPr>
              <a:t> II</a:t>
            </a:r>
          </a:p>
          <a:p>
            <a:pPr algn="ctr"/>
            <a:endParaRPr lang="en-US" dirty="0">
              <a:solidFill>
                <a:schemeClr val="bg1"/>
              </a:solidFill>
            </a:endParaRPr>
          </a:p>
        </p:txBody>
      </p:sp>
      <p:sp>
        <p:nvSpPr>
          <p:cNvPr id="20" name="TextBox 19">
            <a:extLst>
              <a:ext uri="{FF2B5EF4-FFF2-40B4-BE49-F238E27FC236}">
                <a16:creationId xmlns:a16="http://schemas.microsoft.com/office/drawing/2014/main" id="{F9E26C76-CAD2-854B-111B-FC4663068249}"/>
              </a:ext>
            </a:extLst>
          </p:cNvPr>
          <p:cNvSpPr txBox="1"/>
          <p:nvPr/>
        </p:nvSpPr>
        <p:spPr>
          <a:xfrm>
            <a:off x="2616200" y="1478822"/>
            <a:ext cx="7406640" cy="1393971"/>
          </a:xfrm>
          <a:prstGeom prst="rect">
            <a:avLst/>
          </a:prstGeom>
          <a:noFill/>
        </p:spPr>
        <p:txBody>
          <a:bodyPr wrap="square" rtlCol="0">
            <a:spAutoFit/>
          </a:bodyPr>
          <a:lstStyle/>
          <a:p>
            <a:pPr marL="0" marR="0" algn="ctr">
              <a:lnSpc>
                <a:spcPct val="107000"/>
              </a:lnSpc>
              <a:spcAft>
                <a:spcPts val="800"/>
              </a:spcAft>
              <a:buNone/>
            </a:pPr>
            <a:r>
              <a:rPr lang="sq-AL" sz="2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DREJTIMI: SIGURI KIBERNETIKE DHE SISTEME TË INFORMACIONIT</a:t>
            </a:r>
            <a:endParaRPr lang="en-US" sz="2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dirty="0">
              <a:solidFill>
                <a:schemeClr val="bg1"/>
              </a:solidFill>
            </a:endParaRPr>
          </a:p>
        </p:txBody>
      </p:sp>
    </p:spTree>
    <p:extLst>
      <p:ext uri="{BB962C8B-B14F-4D97-AF65-F5344CB8AC3E}">
        <p14:creationId xmlns:p14="http://schemas.microsoft.com/office/powerpoint/2010/main" val="1758686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81FE5D66-BD94-4EC5-7B52-86A22134A0B4}"/>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FCFA1AC7-1B16-DE85-D66F-78D0886FFC48}"/>
              </a:ext>
            </a:extLst>
          </p:cNvPr>
          <p:cNvSpPr/>
          <p:nvPr/>
        </p:nvSpPr>
        <p:spPr>
          <a:xfrm>
            <a:off x="1" y="549985"/>
            <a:ext cx="2601685" cy="6006457"/>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HYRJE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222788D-3A7C-2BEE-5431-48C0516F08FB}"/>
              </a:ext>
            </a:extLst>
          </p:cNvPr>
          <p:cNvSpPr txBox="1"/>
          <p:nvPr/>
        </p:nvSpPr>
        <p:spPr>
          <a:xfrm>
            <a:off x="1279792" y="-2173110"/>
            <a:ext cx="9124748" cy="1384995"/>
          </a:xfrm>
          <a:prstGeom prst="rect">
            <a:avLst/>
          </a:prstGeom>
          <a:noFill/>
        </p:spPr>
        <p:txBody>
          <a:bodyPr wrap="square" rtlCol="0">
            <a:spAutoFit/>
          </a:bodyPr>
          <a:lstStyle/>
          <a:p>
            <a:pPr algn="ctr"/>
            <a:r>
              <a:rPr lang="sq-AL" sz="2800" b="1" dirty="0">
                <a:solidFill>
                  <a:schemeClr val="bg2"/>
                </a:solidFill>
                <a:latin typeface="Times New Roman" panose="02020603050405020304" pitchFamily="18" charset="0"/>
                <a:cs typeface="Times New Roman" panose="02020603050405020304" pitchFamily="18" charset="0"/>
              </a:rPr>
              <a:t>IMPLEMENTIMI I PROTOKOLLIT SSH PER MENAXHIM TE SIGURT TE ROUTER- VE DHE SWITCH-VE</a:t>
            </a:r>
            <a:endParaRPr lang="en-US" sz="2800" dirty="0">
              <a:solidFill>
                <a:schemeClr val="bg2"/>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54E12A4-97D5-B781-D510-130C22CB62F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119803" y="-2655972"/>
            <a:ext cx="2907263" cy="2350718"/>
          </a:xfrm>
          <a:prstGeom prst="rect">
            <a:avLst/>
          </a:prstGeom>
          <a:effectLst>
            <a:glow rad="1460500">
              <a:srgbClr val="C00000">
                <a:alpha val="0"/>
              </a:srgbClr>
            </a:glow>
          </a:effectLst>
        </p:spPr>
      </p:pic>
      <p:sp>
        <p:nvSpPr>
          <p:cNvPr id="9" name="TextBox 8">
            <a:extLst>
              <a:ext uri="{FF2B5EF4-FFF2-40B4-BE49-F238E27FC236}">
                <a16:creationId xmlns:a16="http://schemas.microsoft.com/office/drawing/2014/main" id="{E50FCC34-AEB6-E1BD-51EE-410D7C41FB48}"/>
              </a:ext>
            </a:extLst>
          </p:cNvPr>
          <p:cNvSpPr txBox="1"/>
          <p:nvPr/>
        </p:nvSpPr>
        <p:spPr>
          <a:xfrm>
            <a:off x="3064806" y="-1871167"/>
            <a:ext cx="4849161" cy="781111"/>
          </a:xfrm>
          <a:prstGeom prst="rect">
            <a:avLst/>
          </a:prstGeom>
          <a:noFill/>
        </p:spPr>
        <p:txBody>
          <a:bodyPr wrap="square">
            <a:spAutoFit/>
          </a:bodyPr>
          <a:lstStyle/>
          <a:p>
            <a:pPr marL="0" marR="0" algn="ctr">
              <a:lnSpc>
                <a:spcPct val="107000"/>
              </a:lnSpc>
              <a:spcAft>
                <a:spcPts val="800"/>
              </a:spcAft>
              <a:buNone/>
            </a:pPr>
            <a:r>
              <a:rPr lang="en-US" sz="4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a:t>
            </a:r>
            <a:r>
              <a:rPr lang="sq-AL" sz="4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OLEGJI AAB</a:t>
            </a:r>
            <a:endParaRPr lang="en-US" sz="44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57AF0763-7AB3-5964-98AF-2771A10E03DC}"/>
              </a:ext>
            </a:extLst>
          </p:cNvPr>
          <p:cNvSpPr/>
          <p:nvPr/>
        </p:nvSpPr>
        <p:spPr>
          <a:xfrm>
            <a:off x="6685229" y="6325131"/>
            <a:ext cx="2057279" cy="4215864"/>
          </a:xfrm>
          <a:prstGeom prst="roundRect">
            <a:avLst>
              <a:gd name="adj" fmla="val 48432"/>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SSH-SHELL SECURE, TELNET</a:t>
            </a:r>
          </a:p>
        </p:txBody>
      </p:sp>
      <p:sp>
        <p:nvSpPr>
          <p:cNvPr id="16" name="Rectangle: Rounded Corners 15">
            <a:extLst>
              <a:ext uri="{FF2B5EF4-FFF2-40B4-BE49-F238E27FC236}">
                <a16:creationId xmlns:a16="http://schemas.microsoft.com/office/drawing/2014/main" id="{074DC7ED-EBD5-CDBE-738D-59DAF9D980A1}"/>
              </a:ext>
            </a:extLst>
          </p:cNvPr>
          <p:cNvSpPr/>
          <p:nvPr/>
        </p:nvSpPr>
        <p:spPr>
          <a:xfrm>
            <a:off x="9546894" y="6325131"/>
            <a:ext cx="2057279" cy="4215864"/>
          </a:xfrm>
          <a:prstGeom prst="roundRect">
            <a:avLst>
              <a:gd name="adj" fmla="val 484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Times New Roman" panose="02020603050405020304" pitchFamily="18" charset="0"/>
                <a:cs typeface="Times New Roman" panose="02020603050405020304" pitchFamily="18" charset="0"/>
              </a:rPr>
              <a:t>IMPLEMENTIMI ME PACKET TRACER</a:t>
            </a:r>
          </a:p>
        </p:txBody>
      </p:sp>
      <p:sp>
        <p:nvSpPr>
          <p:cNvPr id="8" name="Rectangle 4">
            <a:extLst>
              <a:ext uri="{FF2B5EF4-FFF2-40B4-BE49-F238E27FC236}">
                <a16:creationId xmlns:a16="http://schemas.microsoft.com/office/drawing/2014/main" id="{400AE69B-097F-9EEE-DDBF-513544A789DE}"/>
              </a:ext>
            </a:extLst>
          </p:cNvPr>
          <p:cNvSpPr>
            <a:spLocks noChangeArrowheads="1"/>
          </p:cNvSpPr>
          <p:nvPr/>
        </p:nvSpPr>
        <p:spPr bwMode="auto">
          <a:xfrm>
            <a:off x="2734734" y="1270592"/>
            <a:ext cx="9242425"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sq-AL" altLang="en-US" sz="1400" i="0" u="none" strike="noStrike" cap="none" normalizeH="0" baseline="0" dirty="0">
                <a:ln>
                  <a:noFill/>
                </a:ln>
                <a:solidFill>
                  <a:schemeClr val="bg1"/>
                </a:solidFill>
                <a:latin typeface="Times New Roman" panose="02020603050405020304" pitchFamily="18" charset="0"/>
                <a:ea typeface="Calibri" panose="020F0502020204030204" pitchFamily="34" charset="0"/>
                <a:cs typeface="Times New Roman" panose="02020603050405020304" pitchFamily="18" charset="0"/>
              </a:rPr>
              <a:t>Siguria në rrjetet kompjuterike është një nga aspektet më të rëndësishme në administrimin e sistemeve moderne. Me rritjen e përdorimit të rrjeteve, rritet nevoja për metoda të sigurta të menaxhimit në distancë të paisjeve të rrjetit.</a:t>
            </a:r>
          </a:p>
          <a:p>
            <a:pPr marL="0" marR="0" lvl="0" indent="0" defTabSz="914400" rtl="0" eaLnBrk="0" fontAlgn="base" latinLnBrk="0" hangingPunct="0">
              <a:lnSpc>
                <a:spcPct val="100000"/>
              </a:lnSpc>
              <a:spcBef>
                <a:spcPct val="0"/>
              </a:spcBef>
              <a:spcAft>
                <a:spcPct val="0"/>
              </a:spcAft>
              <a:buClrTx/>
              <a:buSzTx/>
              <a:buFontTx/>
              <a:buNone/>
              <a:tabLst/>
            </a:pPr>
            <a:r>
              <a:rPr kumimoji="0" lang="sq-AL" altLang="en-US" sz="1400" i="0" u="none" strike="noStrike" cap="none" normalizeH="0" baseline="0" dirty="0">
                <a:ln>
                  <a:noFill/>
                </a:ln>
                <a:solidFill>
                  <a:schemeClr val="bg1"/>
                </a:solidFill>
                <a:latin typeface="Times New Roman" panose="02020603050405020304" pitchFamily="18" charset="0"/>
                <a:ea typeface="Calibri" panose="020F0502020204030204" pitchFamily="34" charset="0"/>
                <a:cs typeface="Times New Roman" panose="02020603050405020304" pitchFamily="18" charset="0"/>
              </a:rPr>
              <a:t>SSH (Secure Shell) është nje protokoll I cili ofron komunikim të inkreptuar dhe autentifikim të sigurt ndërmjet klientit dhe paisjes. Ai përdorë teknika të avancuara të inkreptimit dhe autentikimit për të mbrojtur të dhënat gjatë transmetimit. Përmes SSH, administratorët mund të aksesojnë dhe menagjojnë paisjet e rrjetit në një mënyrë të sigurt, duke reduktuar rrezikun e sulmeve kibernetike.</a:t>
            </a:r>
            <a:endParaRPr kumimoji="0" lang="en-US" altLang="en-US" sz="1400" i="0" u="none" strike="noStrike" cap="none" normalizeH="0" baseline="0" dirty="0">
              <a:ln>
                <a:noFill/>
              </a:ln>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sq-AL" altLang="en-US" sz="1400" i="0" u="none" strike="noStrike" cap="none" normalizeH="0" baseline="0" dirty="0">
              <a:ln>
                <a:noFill/>
              </a:ln>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sq-AL" altLang="en-US" sz="1400" i="0" u="none" strike="noStrike" cap="none" normalizeH="0" baseline="0" dirty="0">
                <a:ln>
                  <a:noFill/>
                </a:ln>
                <a:solidFill>
                  <a:schemeClr val="bg1"/>
                </a:solidFill>
                <a:latin typeface="Times New Roman" panose="02020603050405020304" pitchFamily="18" charset="0"/>
                <a:ea typeface="Calibri" panose="020F0502020204030204" pitchFamily="34" charset="0"/>
                <a:cs typeface="Times New Roman" panose="02020603050405020304" pitchFamily="18" charset="0"/>
              </a:rPr>
              <a:t>Në këtë punim paraqitet implementimi praktik i protokollit SSH në një mjedis të simuluar duke përdorur Cisco Packet Tracer. Ky simulim mundëson testimin dhe verifikimin e konfigurimeve të ndryshme pa pasur nevojë për paisje fizike reale. Administrimi i tyre kërkon qasje të vazhdueshme dhe të sigurt në paisje si router-s dhe switch-es . Të dhënat që transmetohen përmes Telnet përfshir kredencialet e përdoruesit, dërgohen në formë të hapur dhe mund të kapen nga persona të paautorizuar për këtë arsye është e nevojshme përdorimi i protokolleve më të avancuara si SSH , i cili siguron komunikim të enkreptuar dhe autentikim të sigurt.</a:t>
            </a:r>
            <a:endParaRPr kumimoji="0" lang="en-US" altLang="en-US" sz="1400" i="0" u="none" strike="noStrike" cap="none" normalizeH="0" baseline="0" dirty="0">
              <a:ln>
                <a:noFill/>
              </a:ln>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sq-AL" altLang="en-US" sz="1400" i="0" u="none" strike="noStrike" cap="none" normalizeH="0" baseline="0" dirty="0">
              <a:ln>
                <a:noFill/>
              </a:ln>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sq-AL" altLang="en-US" sz="1400" i="0" u="none" strike="noStrike" cap="none" normalizeH="0" baseline="0" dirty="0">
                <a:ln>
                  <a:noFill/>
                </a:ln>
                <a:solidFill>
                  <a:schemeClr val="bg1"/>
                </a:solidFill>
                <a:latin typeface="Times New Roman" panose="02020603050405020304" pitchFamily="18" charset="0"/>
                <a:ea typeface="Calibri" panose="020F0502020204030204" pitchFamily="34" charset="0"/>
                <a:cs typeface="Times New Roman" panose="02020603050405020304" pitchFamily="18" charset="0"/>
              </a:rPr>
              <a:t>Për të adresuar këto dobësi, është zhvilluar protokolli SSH (Secure Shell) i cili ofron një mënyrë të sigurt për menaxhimin në distancë të paisjeve të rrjetit. SSH përdoret shkaku i enkriptimin dhe autentikimit duke siguruar që të gjitha të  dhënat të transmetohen ndërmjet klientit dhe pajisjes të jenë të mbrojtura nga qasjet e paautorizuara.</a:t>
            </a:r>
          </a:p>
        </p:txBody>
      </p:sp>
    </p:spTree>
    <p:extLst>
      <p:ext uri="{BB962C8B-B14F-4D97-AF65-F5344CB8AC3E}">
        <p14:creationId xmlns:p14="http://schemas.microsoft.com/office/powerpoint/2010/main" val="146472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CD3505A0-1CFE-52BE-E0A1-4D8DB4532603}"/>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D4FB5E51-0126-796D-AF4C-80E24BFFBB08}"/>
              </a:ext>
            </a:extLst>
          </p:cNvPr>
          <p:cNvSpPr/>
          <p:nvPr/>
        </p:nvSpPr>
        <p:spPr>
          <a:xfrm>
            <a:off x="312807" y="6326708"/>
            <a:ext cx="2312095" cy="4428293"/>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q-AL" sz="2000" b="1" noProof="0" dirty="0">
                <a:solidFill>
                  <a:schemeClr val="bg1"/>
                </a:solidFill>
                <a:latin typeface="Times New Roman" panose="02020603050405020304" pitchFamily="18" charset="0"/>
                <a:cs typeface="Times New Roman" panose="02020603050405020304" pitchFamily="18" charset="0"/>
              </a:rPr>
              <a:t>HYRJE</a:t>
            </a:r>
            <a:endParaRPr lang="sq-AL" b="1" noProof="0"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8592E2A-3BDC-F40B-743D-9CF28E9BDB44}"/>
              </a:ext>
            </a:extLst>
          </p:cNvPr>
          <p:cNvSpPr txBox="1"/>
          <p:nvPr/>
        </p:nvSpPr>
        <p:spPr>
          <a:xfrm>
            <a:off x="1279792" y="-2173110"/>
            <a:ext cx="9124748" cy="1384995"/>
          </a:xfrm>
          <a:prstGeom prst="rect">
            <a:avLst/>
          </a:prstGeom>
          <a:noFill/>
        </p:spPr>
        <p:txBody>
          <a:bodyPr wrap="square" rtlCol="0">
            <a:spAutoFit/>
          </a:bodyPr>
          <a:lstStyle/>
          <a:p>
            <a:pPr algn="ctr"/>
            <a:r>
              <a:rPr lang="sq-AL" sz="2800" b="1" noProof="0" dirty="0">
                <a:solidFill>
                  <a:schemeClr val="bg2"/>
                </a:solidFill>
                <a:latin typeface="Times New Roman" panose="02020603050405020304" pitchFamily="18" charset="0"/>
                <a:cs typeface="Times New Roman" panose="02020603050405020304" pitchFamily="18" charset="0"/>
              </a:rPr>
              <a:t>IMPLEMENTIMI I PROTOKOLLIT SSH PER MENAXHIM TE SIGURT TE ROUTER- VE DHE SWITCH-VE</a:t>
            </a:r>
            <a:endParaRPr lang="sq-AL" sz="2800" noProof="0" dirty="0">
              <a:solidFill>
                <a:schemeClr val="bg2"/>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9713CEF-83FD-0C92-546A-5491D149697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7543" y="-2655972"/>
            <a:ext cx="2907263" cy="2350718"/>
          </a:xfrm>
          <a:prstGeom prst="rect">
            <a:avLst/>
          </a:prstGeom>
          <a:effectLst>
            <a:glow rad="1460500">
              <a:srgbClr val="C00000">
                <a:alpha val="0"/>
              </a:srgbClr>
            </a:glow>
          </a:effectLst>
        </p:spPr>
      </p:pic>
      <p:sp>
        <p:nvSpPr>
          <p:cNvPr id="9" name="TextBox 8">
            <a:extLst>
              <a:ext uri="{FF2B5EF4-FFF2-40B4-BE49-F238E27FC236}">
                <a16:creationId xmlns:a16="http://schemas.microsoft.com/office/drawing/2014/main" id="{49CBB836-9DB6-E804-6EC7-9BC5E286BE62}"/>
              </a:ext>
            </a:extLst>
          </p:cNvPr>
          <p:cNvSpPr txBox="1"/>
          <p:nvPr/>
        </p:nvSpPr>
        <p:spPr>
          <a:xfrm>
            <a:off x="3064806" y="-1871167"/>
            <a:ext cx="4849161" cy="781111"/>
          </a:xfrm>
          <a:prstGeom prst="rect">
            <a:avLst/>
          </a:prstGeom>
          <a:noFill/>
        </p:spPr>
        <p:txBody>
          <a:bodyPr wrap="square">
            <a:spAutoFit/>
          </a:bodyPr>
          <a:lstStyle/>
          <a:p>
            <a:pPr marL="0" marR="0" algn="ctr">
              <a:lnSpc>
                <a:spcPct val="107000"/>
              </a:lnSpc>
              <a:spcAft>
                <a:spcPts val="800"/>
              </a:spcAft>
              <a:buNone/>
            </a:pPr>
            <a:r>
              <a:rPr lang="sq-AL" sz="4400" b="1" noProof="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KOLEGJI AAB</a:t>
            </a:r>
            <a:endParaRPr lang="sq-AL" sz="4400" b="1" noProof="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582C5F93-C734-BEA6-F4E6-2EB5BB776F9A}"/>
              </a:ext>
            </a:extLst>
          </p:cNvPr>
          <p:cNvSpPr/>
          <p:nvPr/>
        </p:nvSpPr>
        <p:spPr>
          <a:xfrm>
            <a:off x="0" y="803346"/>
            <a:ext cx="2057279" cy="5251308"/>
          </a:xfrm>
          <a:prstGeom prst="roundRect">
            <a:avLst>
              <a:gd name="adj" fmla="val 48432"/>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q-AL" b="1" noProof="0" dirty="0">
                <a:latin typeface="Times New Roman" panose="02020603050405020304" pitchFamily="18" charset="0"/>
                <a:cs typeface="Times New Roman" panose="02020603050405020304" pitchFamily="18" charset="0"/>
              </a:rPr>
              <a:t>SSH-SECURE SHELL, TELNET</a:t>
            </a:r>
          </a:p>
        </p:txBody>
      </p:sp>
      <p:sp>
        <p:nvSpPr>
          <p:cNvPr id="16" name="Rectangle: Rounded Corners 15">
            <a:extLst>
              <a:ext uri="{FF2B5EF4-FFF2-40B4-BE49-F238E27FC236}">
                <a16:creationId xmlns:a16="http://schemas.microsoft.com/office/drawing/2014/main" id="{0DD89CD8-6CDF-B439-1BA7-97CFD48DD33E}"/>
              </a:ext>
            </a:extLst>
          </p:cNvPr>
          <p:cNvSpPr/>
          <p:nvPr/>
        </p:nvSpPr>
        <p:spPr>
          <a:xfrm>
            <a:off x="9030356" y="6326709"/>
            <a:ext cx="2312095" cy="4428292"/>
          </a:xfrm>
          <a:prstGeom prst="roundRect">
            <a:avLst>
              <a:gd name="adj" fmla="val 484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q-AL" sz="1400" noProof="0" dirty="0">
                <a:latin typeface="Times New Roman" panose="02020603050405020304" pitchFamily="18" charset="0"/>
                <a:cs typeface="Times New Roman" panose="02020603050405020304" pitchFamily="18" charset="0"/>
              </a:rPr>
              <a:t>IMPLEMENTIMI ME PACKET TRACER</a:t>
            </a:r>
          </a:p>
        </p:txBody>
      </p:sp>
      <p:sp>
        <p:nvSpPr>
          <p:cNvPr id="5" name="TextBox 4">
            <a:extLst>
              <a:ext uri="{FF2B5EF4-FFF2-40B4-BE49-F238E27FC236}">
                <a16:creationId xmlns:a16="http://schemas.microsoft.com/office/drawing/2014/main" id="{5BCE0D25-9FD4-F158-B74C-A1377D5180C0}"/>
              </a:ext>
            </a:extLst>
          </p:cNvPr>
          <p:cNvSpPr txBox="1"/>
          <p:nvPr/>
        </p:nvSpPr>
        <p:spPr>
          <a:xfrm>
            <a:off x="2242686" y="1182695"/>
            <a:ext cx="9568866" cy="3652282"/>
          </a:xfrm>
          <a:prstGeom prst="rect">
            <a:avLst/>
          </a:prstGeom>
          <a:noFill/>
        </p:spPr>
        <p:txBody>
          <a:bodyPr wrap="square">
            <a:spAutoFit/>
          </a:bodyPr>
          <a:lstStyle/>
          <a:p>
            <a:pPr algn="just">
              <a:spcAft>
                <a:spcPts val="800"/>
              </a:spcAft>
            </a:pPr>
            <a:r>
              <a:rPr lang="sq-AL" noProof="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Protokolli SSH është një standard I rëndësishëm në administrimin e sigurt të rrjeteve kompjuterike, i cili mundëson si lidhje të enkriptuar ndërmjet një klienti dhe një paisjeje rrjeti. Në krahasim me protokollet tradicionale si Telnet SSH ofron siguri të avancuar përmes enkriptimit të të dhënave dhe autentikimit të përdoruesve. Në këtë projekt SSH përdoret për menaxhimin në distance të routerëve dhe swith-eve , ai lejon administratorët të lidhen  me routerë switch-e ose serverë përmes një kanali të inkreptuar.</a:t>
            </a:r>
          </a:p>
          <a:p>
            <a:pPr algn="just">
              <a:spcAft>
                <a:spcPts val="800"/>
              </a:spcAft>
            </a:pPr>
            <a:r>
              <a:rPr lang="sq-AL" noProof="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Dobësia më e madhe e Telnet është se nuk ofron enkriptim. Kjo do të thotë:</a:t>
            </a:r>
          </a:p>
          <a:p>
            <a:pPr algn="just">
              <a:spcAft>
                <a:spcPts val="800"/>
              </a:spcAft>
            </a:pPr>
            <a:r>
              <a:rPr lang="sq-AL" noProof="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Fjalëkalimet dërgohen si tekst i thjeshtë (plain text)</a:t>
            </a:r>
          </a:p>
          <a:p>
            <a:pPr algn="just">
              <a:spcAft>
                <a:spcPts val="800"/>
              </a:spcAft>
            </a:pPr>
            <a:r>
              <a:rPr lang="sq-AL" noProof="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Të dhënat mund të kapen lehtësisht nga persona të paautorizuar (sniffing)</a:t>
            </a:r>
          </a:p>
          <a:p>
            <a:pPr algn="just">
              <a:spcAft>
                <a:spcPts val="800"/>
              </a:spcAft>
            </a:pPr>
            <a:r>
              <a:rPr lang="sq-AL" noProof="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Nuk ka mekanizma për verifikim të sigurt të identitetit</a:t>
            </a:r>
          </a:p>
          <a:p>
            <a:pPr algn="just">
              <a:spcAft>
                <a:spcPts val="800"/>
              </a:spcAft>
            </a:pPr>
            <a:r>
              <a:rPr lang="sq-AL" noProof="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Për këtë arsye, Telnet konsiderohet i pasigurt për përdorim në rrjete moderne, sidomos në internet.</a:t>
            </a:r>
            <a:endParaRPr lang="sq-AL" sz="1800" noProof="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1641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0D991D2A-A6B9-84FB-58F7-B82755495509}"/>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2FAD8B86-81DE-BBB1-C2D9-69E96FFF0B2D}"/>
              </a:ext>
            </a:extLst>
          </p:cNvPr>
          <p:cNvSpPr/>
          <p:nvPr/>
        </p:nvSpPr>
        <p:spPr>
          <a:xfrm>
            <a:off x="333828" y="6326709"/>
            <a:ext cx="2312095" cy="4428293"/>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HYRJE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36684F7-3EF4-8974-FB20-0BC2C30C0615}"/>
              </a:ext>
            </a:extLst>
          </p:cNvPr>
          <p:cNvSpPr txBox="1"/>
          <p:nvPr/>
        </p:nvSpPr>
        <p:spPr>
          <a:xfrm>
            <a:off x="1279792" y="-2173110"/>
            <a:ext cx="9124748" cy="1384995"/>
          </a:xfrm>
          <a:prstGeom prst="rect">
            <a:avLst/>
          </a:prstGeom>
          <a:noFill/>
        </p:spPr>
        <p:txBody>
          <a:bodyPr wrap="square" rtlCol="0">
            <a:spAutoFit/>
          </a:bodyPr>
          <a:lstStyle/>
          <a:p>
            <a:pPr algn="ctr"/>
            <a:r>
              <a:rPr lang="sq-AL" sz="2800" b="1" dirty="0">
                <a:solidFill>
                  <a:schemeClr val="bg2"/>
                </a:solidFill>
                <a:latin typeface="Times New Roman" panose="02020603050405020304" pitchFamily="18" charset="0"/>
                <a:cs typeface="Times New Roman" panose="02020603050405020304" pitchFamily="18" charset="0"/>
              </a:rPr>
              <a:t>IMPLEMENTIMI I PROTOKOLLIT SSH PER MENAXHIM TE SIGURT TE ROUTER- VE DHE SWITCH-VE</a:t>
            </a:r>
            <a:endParaRPr lang="en-US" sz="2800" dirty="0">
              <a:solidFill>
                <a:schemeClr val="bg2"/>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5958548-D54D-87F3-8844-0A04F47D76B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7543" y="-2655972"/>
            <a:ext cx="2907263" cy="2350718"/>
          </a:xfrm>
          <a:prstGeom prst="rect">
            <a:avLst/>
          </a:prstGeom>
          <a:effectLst>
            <a:glow rad="1460500">
              <a:srgbClr val="C00000">
                <a:alpha val="0"/>
              </a:srgbClr>
            </a:glow>
          </a:effectLst>
        </p:spPr>
      </p:pic>
      <p:sp>
        <p:nvSpPr>
          <p:cNvPr id="9" name="TextBox 8">
            <a:extLst>
              <a:ext uri="{FF2B5EF4-FFF2-40B4-BE49-F238E27FC236}">
                <a16:creationId xmlns:a16="http://schemas.microsoft.com/office/drawing/2014/main" id="{F69FAA05-53D3-9EAB-9582-5179745248F9}"/>
              </a:ext>
            </a:extLst>
          </p:cNvPr>
          <p:cNvSpPr txBox="1"/>
          <p:nvPr/>
        </p:nvSpPr>
        <p:spPr>
          <a:xfrm>
            <a:off x="3064806" y="-1871167"/>
            <a:ext cx="4849161" cy="781111"/>
          </a:xfrm>
          <a:prstGeom prst="rect">
            <a:avLst/>
          </a:prstGeom>
          <a:noFill/>
        </p:spPr>
        <p:txBody>
          <a:bodyPr wrap="square">
            <a:spAutoFit/>
          </a:bodyPr>
          <a:lstStyle/>
          <a:p>
            <a:pPr marL="0" marR="0" algn="ctr">
              <a:lnSpc>
                <a:spcPct val="107000"/>
              </a:lnSpc>
              <a:spcAft>
                <a:spcPts val="800"/>
              </a:spcAft>
              <a:buNone/>
            </a:pPr>
            <a:r>
              <a:rPr lang="en-US" sz="4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a:t>
            </a:r>
            <a:r>
              <a:rPr lang="sq-AL" sz="4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OLEGJI AAB</a:t>
            </a:r>
            <a:endParaRPr lang="en-US" sz="44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1CFE4E00-5A4D-3E70-EE73-E384365D283D}"/>
              </a:ext>
            </a:extLst>
          </p:cNvPr>
          <p:cNvSpPr/>
          <p:nvPr/>
        </p:nvSpPr>
        <p:spPr>
          <a:xfrm>
            <a:off x="4686118" y="6326710"/>
            <a:ext cx="2312095" cy="4428292"/>
          </a:xfrm>
          <a:prstGeom prst="roundRect">
            <a:avLst>
              <a:gd name="adj" fmla="val 48432"/>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SSH-SHELL SECURE, TELNET</a:t>
            </a:r>
          </a:p>
        </p:txBody>
      </p:sp>
      <p:sp>
        <p:nvSpPr>
          <p:cNvPr id="16" name="Rectangle: Rounded Corners 15">
            <a:extLst>
              <a:ext uri="{FF2B5EF4-FFF2-40B4-BE49-F238E27FC236}">
                <a16:creationId xmlns:a16="http://schemas.microsoft.com/office/drawing/2014/main" id="{281DD853-B580-B748-FA99-91282BBD4FD5}"/>
              </a:ext>
            </a:extLst>
          </p:cNvPr>
          <p:cNvSpPr/>
          <p:nvPr/>
        </p:nvSpPr>
        <p:spPr>
          <a:xfrm>
            <a:off x="0" y="500304"/>
            <a:ext cx="2120899" cy="5659196"/>
          </a:xfrm>
          <a:prstGeom prst="roundRect">
            <a:avLst>
              <a:gd name="adj" fmla="val 484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Times New Roman" panose="02020603050405020304" pitchFamily="18" charset="0"/>
                <a:cs typeface="Times New Roman" panose="02020603050405020304" pitchFamily="18" charset="0"/>
              </a:rPr>
              <a:t>IMPLEMENTIMI ME PACKET TRACER</a:t>
            </a:r>
          </a:p>
        </p:txBody>
      </p:sp>
      <p:sp>
        <p:nvSpPr>
          <p:cNvPr id="4" name="TextBox 3">
            <a:extLst>
              <a:ext uri="{FF2B5EF4-FFF2-40B4-BE49-F238E27FC236}">
                <a16:creationId xmlns:a16="http://schemas.microsoft.com/office/drawing/2014/main" id="{676DA3AA-4158-20BC-3AB4-FE71E1314DF3}"/>
              </a:ext>
            </a:extLst>
          </p:cNvPr>
          <p:cNvSpPr txBox="1"/>
          <p:nvPr/>
        </p:nvSpPr>
        <p:spPr>
          <a:xfrm>
            <a:off x="2879387" y="1342417"/>
            <a:ext cx="8190690" cy="2554545"/>
          </a:xfrm>
          <a:prstGeom prst="rect">
            <a:avLst/>
          </a:prstGeom>
          <a:noFill/>
        </p:spPr>
        <p:txBody>
          <a:bodyPr wrap="square" rtlCol="0">
            <a:spAutoFit/>
          </a:bodyPr>
          <a:lstStyle/>
          <a:p>
            <a:r>
              <a:rPr lang="en-US" sz="2000" dirty="0" err="1">
                <a:solidFill>
                  <a:schemeClr val="bg1"/>
                </a:solidFill>
                <a:latin typeface="Times New Roman" panose="02020603050405020304" pitchFamily="18" charset="0"/>
                <a:cs typeface="Times New Roman" panose="02020603050405020304" pitchFamily="18" charset="0"/>
              </a:rPr>
              <a:t>Konfigurimin</a:t>
            </a:r>
            <a:r>
              <a:rPr lang="en-US" sz="2000" dirty="0">
                <a:solidFill>
                  <a:schemeClr val="bg1"/>
                </a:solidFill>
                <a:latin typeface="Times New Roman" panose="02020603050405020304" pitchFamily="18" charset="0"/>
                <a:cs typeface="Times New Roman" panose="02020603050405020304" pitchFamily="18" charset="0"/>
              </a:rPr>
              <a:t> e </a:t>
            </a:r>
            <a:r>
              <a:rPr lang="en-US" sz="2000" dirty="0" err="1">
                <a:solidFill>
                  <a:schemeClr val="bg1"/>
                </a:solidFill>
                <a:latin typeface="Times New Roman" panose="02020603050405020304" pitchFamily="18" charset="0"/>
                <a:cs typeface="Times New Roman" panose="02020603050405020304" pitchFamily="18" charset="0"/>
              </a:rPr>
              <a:t>protokollit</a:t>
            </a:r>
            <a:r>
              <a:rPr lang="en-US" sz="2000" dirty="0">
                <a:solidFill>
                  <a:schemeClr val="bg1"/>
                </a:solidFill>
                <a:latin typeface="Times New Roman" panose="02020603050405020304" pitchFamily="18" charset="0"/>
                <a:cs typeface="Times New Roman" panose="02020603050405020304" pitchFamily="18" charset="0"/>
              </a:rPr>
              <a:t> SSH </a:t>
            </a:r>
            <a:r>
              <a:rPr lang="en-US" sz="2000" dirty="0" err="1">
                <a:solidFill>
                  <a:schemeClr val="bg1"/>
                </a:solidFill>
                <a:latin typeface="Times New Roman" panose="02020603050405020304" pitchFamily="18" charset="0"/>
                <a:cs typeface="Times New Roman" panose="02020603050405020304" pitchFamily="18" charset="0"/>
              </a:rPr>
              <a:t>në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një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rrjet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simuluar</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kemi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përdorur</a:t>
            </a:r>
            <a:r>
              <a:rPr lang="en-US" sz="2000" dirty="0">
                <a:solidFill>
                  <a:schemeClr val="bg1"/>
                </a:solidFill>
                <a:latin typeface="Times New Roman" panose="02020603050405020304" pitchFamily="18" charset="0"/>
                <a:cs typeface="Times New Roman" panose="02020603050405020304" pitchFamily="18" charset="0"/>
              </a:rPr>
              <a:t> Cisco Packet Tracer.</a:t>
            </a:r>
          </a:p>
          <a:p>
            <a:r>
              <a:rPr lang="en-US" sz="2000" dirty="0" err="1">
                <a:solidFill>
                  <a:schemeClr val="bg1"/>
                </a:solidFill>
                <a:latin typeface="Times New Roman" panose="02020603050405020304" pitchFamily="18" charset="0"/>
                <a:cs typeface="Times New Roman" panose="02020603050405020304" pitchFamily="18" charset="0"/>
              </a:rPr>
              <a:t>Qëllimi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është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mundësohet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qasje</a:t>
            </a:r>
            <a:r>
              <a:rPr lang="en-US" sz="2000" dirty="0">
                <a:solidFill>
                  <a:schemeClr val="bg1"/>
                </a:solidFill>
                <a:latin typeface="Times New Roman" panose="02020603050405020304" pitchFamily="18" charset="0"/>
                <a:cs typeface="Times New Roman" panose="02020603050405020304" pitchFamily="18" charset="0"/>
              </a:rPr>
              <a:t> e </a:t>
            </a:r>
            <a:r>
              <a:rPr lang="en-US" sz="2000" dirty="0" err="1">
                <a:solidFill>
                  <a:schemeClr val="bg1"/>
                </a:solidFill>
                <a:latin typeface="Times New Roman" panose="02020603050405020304" pitchFamily="18" charset="0"/>
                <a:cs typeface="Times New Roman" panose="02020603050405020304" pitchFamily="18" charset="0"/>
              </a:rPr>
              <a:t>sigurt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një</a:t>
            </a:r>
            <a:r>
              <a:rPr lang="en-US" sz="2000" dirty="0">
                <a:solidFill>
                  <a:schemeClr val="bg1"/>
                </a:solidFill>
                <a:latin typeface="Times New Roman" panose="02020603050405020304" pitchFamily="18" charset="0"/>
                <a:cs typeface="Times New Roman" panose="02020603050405020304" pitchFamily="18" charset="0"/>
              </a:rPr>
              <a:t> router </a:t>
            </a:r>
            <a:r>
              <a:rPr lang="en-US" sz="2000" dirty="0" err="1">
                <a:solidFill>
                  <a:schemeClr val="bg1"/>
                </a:solidFill>
                <a:latin typeface="Times New Roman" panose="02020603050405020304" pitchFamily="18" charset="0"/>
                <a:cs typeface="Times New Roman" panose="02020603050405020304" pitchFamily="18" charset="0"/>
              </a:rPr>
              <a:t>nga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kompjuter</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një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rrjet</a:t>
            </a:r>
            <a:r>
              <a:rPr lang="en-US" sz="2000" dirty="0">
                <a:solidFill>
                  <a:schemeClr val="bg1"/>
                </a:solidFill>
                <a:latin typeface="Times New Roman" panose="02020603050405020304" pitchFamily="18" charset="0"/>
                <a:cs typeface="Times New Roman" panose="02020603050405020304" pitchFamily="18" charset="0"/>
              </a:rPr>
              <a:t>.</a:t>
            </a:r>
          </a:p>
          <a:p>
            <a:r>
              <a:rPr lang="en-US" sz="2000" dirty="0">
                <a:solidFill>
                  <a:schemeClr val="bg1"/>
                </a:solidFill>
                <a:latin typeface="Times New Roman" panose="02020603050405020304" pitchFamily="18" charset="0"/>
                <a:cs typeface="Times New Roman" panose="02020603050405020304" pitchFamily="18" charset="0"/>
              </a:rPr>
              <a:t> Do </a:t>
            </a:r>
            <a:r>
              <a:rPr lang="en-US" sz="2000" dirty="0" err="1">
                <a:solidFill>
                  <a:schemeClr val="bg1"/>
                </a:solidFill>
                <a:latin typeface="Times New Roman" panose="02020603050405020304" pitchFamily="18" charset="0"/>
                <a:cs typeface="Times New Roman" panose="02020603050405020304" pitchFamily="18" charset="0"/>
              </a:rPr>
              <a:t>krijohet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një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topologji</a:t>
            </a:r>
            <a:r>
              <a:rPr lang="en-US" sz="2000" dirty="0">
                <a:solidFill>
                  <a:schemeClr val="bg1"/>
                </a:solidFill>
                <a:latin typeface="Times New Roman" panose="02020603050405020304" pitchFamily="18" charset="0"/>
                <a:cs typeface="Times New Roman" panose="02020603050405020304" pitchFamily="18" charset="0"/>
              </a:rPr>
              <a:t> e </a:t>
            </a:r>
            <a:r>
              <a:rPr lang="en-US" sz="2000" dirty="0" err="1">
                <a:solidFill>
                  <a:schemeClr val="bg1"/>
                </a:solidFill>
                <a:latin typeface="Times New Roman" panose="02020603050405020304" pitchFamily="18" charset="0"/>
                <a:cs typeface="Times New Roman" panose="02020603050405020304" pitchFamily="18" charset="0"/>
              </a:rPr>
              <a:t>thjesht</a:t>
            </a:r>
            <a:r>
              <a:rPr lang="en-US" sz="2000" dirty="0">
                <a:solidFill>
                  <a:schemeClr val="bg1"/>
                </a:solidFill>
                <a:latin typeface="Times New Roman" panose="02020603050405020304" pitchFamily="18" charset="0"/>
                <a:cs typeface="Times New Roman" panose="02020603050405020304" pitchFamily="18" charset="0"/>
              </a:rPr>
              <a:t> me router </a:t>
            </a:r>
            <a:r>
              <a:rPr lang="en-US" sz="2000" dirty="0" err="1">
                <a:solidFill>
                  <a:schemeClr val="bg1"/>
                </a:solidFill>
                <a:latin typeface="Times New Roman" panose="02020603050405020304" pitchFamily="18" charset="0"/>
                <a:cs typeface="Times New Roman" panose="02020603050405020304" pitchFamily="18" charset="0"/>
              </a:rPr>
              <a:t>dhe</a:t>
            </a:r>
            <a:r>
              <a:rPr lang="en-US" sz="2000" dirty="0">
                <a:solidFill>
                  <a:schemeClr val="bg1"/>
                </a:solidFill>
                <a:latin typeface="Times New Roman" panose="02020603050405020304" pitchFamily="18" charset="0"/>
                <a:cs typeface="Times New Roman" panose="02020603050405020304" pitchFamily="18" charset="0"/>
              </a:rPr>
              <a:t> PC.</a:t>
            </a:r>
          </a:p>
          <a:p>
            <a:r>
              <a:rPr lang="en-US" sz="2000" dirty="0" err="1">
                <a:solidFill>
                  <a:schemeClr val="bg1"/>
                </a:solidFill>
                <a:latin typeface="Times New Roman" panose="02020603050405020304" pitchFamily="18" charset="0"/>
                <a:cs typeface="Times New Roman" panose="02020603050405020304" pitchFamily="18" charset="0"/>
              </a:rPr>
              <a:t>Pastaj</a:t>
            </a:r>
            <a:r>
              <a:rPr lang="en-US" sz="2000" dirty="0">
                <a:solidFill>
                  <a:schemeClr val="bg1"/>
                </a:solidFill>
                <a:latin typeface="Times New Roman" panose="02020603050405020304" pitchFamily="18" charset="0"/>
                <a:cs typeface="Times New Roman" panose="02020603050405020304" pitchFamily="18" charset="0"/>
              </a:rPr>
              <a:t> do </a:t>
            </a:r>
            <a:r>
              <a:rPr lang="en-US" sz="2000" dirty="0" err="1">
                <a:solidFill>
                  <a:schemeClr val="bg1"/>
                </a:solidFill>
                <a:latin typeface="Times New Roman" panose="02020603050405020304" pitchFamily="18" charset="0"/>
                <a:cs typeface="Times New Roman" panose="02020603050405020304" pitchFamily="18" charset="0"/>
              </a:rPr>
              <a:t>konfigurohen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parametrat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bazë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për</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aktivizimin</a:t>
            </a:r>
            <a:r>
              <a:rPr lang="en-US" sz="2000" dirty="0">
                <a:solidFill>
                  <a:schemeClr val="bg1"/>
                </a:solidFill>
                <a:latin typeface="Times New Roman" panose="02020603050405020304" pitchFamily="18" charset="0"/>
                <a:cs typeface="Times New Roman" panose="02020603050405020304" pitchFamily="18" charset="0"/>
              </a:rPr>
              <a:t> e SSH / </a:t>
            </a:r>
            <a:r>
              <a:rPr lang="en-US" sz="2000" dirty="0" err="1">
                <a:solidFill>
                  <a:schemeClr val="bg1"/>
                </a:solidFill>
                <a:latin typeface="Times New Roman" panose="02020603050405020304" pitchFamily="18" charset="0"/>
                <a:cs typeface="Times New Roman" panose="02020603050405020304" pitchFamily="18" charset="0"/>
              </a:rPr>
              <a:t>testimi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si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doket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siguria</a:t>
            </a:r>
            <a:r>
              <a:rPr lang="en-US" sz="2000" dirty="0">
                <a:solidFill>
                  <a:schemeClr val="bg1"/>
                </a:solidFill>
                <a:latin typeface="Times New Roman" panose="02020603050405020304" pitchFamily="18" charset="0"/>
                <a:cs typeface="Times New Roman" panose="02020603050405020304" pitchFamily="18" charset="0"/>
              </a:rPr>
              <a:t> me </a:t>
            </a:r>
            <a:r>
              <a:rPr lang="en-US" sz="2000" dirty="0" err="1">
                <a:solidFill>
                  <a:schemeClr val="bg1"/>
                </a:solidFill>
                <a:latin typeface="Times New Roman" panose="02020603050405020304" pitchFamily="18" charset="0"/>
                <a:cs typeface="Times New Roman" panose="02020603050405020304" pitchFamily="18" charset="0"/>
              </a:rPr>
              <a:t>protokollin</a:t>
            </a:r>
            <a:r>
              <a:rPr lang="en-US" sz="2000" dirty="0">
                <a:solidFill>
                  <a:schemeClr val="bg1"/>
                </a:solidFill>
                <a:latin typeface="Times New Roman" panose="02020603050405020304" pitchFamily="18" charset="0"/>
                <a:cs typeface="Times New Roman" panose="02020603050405020304" pitchFamily="18" charset="0"/>
              </a:rPr>
              <a:t> Telnet.</a:t>
            </a:r>
          </a:p>
          <a:p>
            <a:r>
              <a:rPr lang="en-US" sz="2000" dirty="0" err="1">
                <a:solidFill>
                  <a:schemeClr val="bg1"/>
                </a:solidFill>
                <a:latin typeface="Times New Roman" panose="02020603050405020304" pitchFamily="18" charset="0"/>
                <a:cs typeface="Times New Roman" panose="02020603050405020304" pitchFamily="18" charset="0"/>
              </a:rPr>
              <a:t>Testimi</a:t>
            </a:r>
            <a:r>
              <a:rPr lang="en-US" sz="2000" dirty="0">
                <a:solidFill>
                  <a:schemeClr val="bg1"/>
                </a:solidFill>
                <a:latin typeface="Times New Roman" panose="02020603050405020304" pitchFamily="18" charset="0"/>
                <a:cs typeface="Times New Roman" panose="02020603050405020304" pitchFamily="18" charset="0"/>
              </a:rPr>
              <a:t> apo </a:t>
            </a:r>
            <a:r>
              <a:rPr lang="en-US" sz="2000" dirty="0" err="1">
                <a:solidFill>
                  <a:schemeClr val="bg1"/>
                </a:solidFill>
                <a:latin typeface="Times New Roman" panose="02020603050405020304" pitchFamily="18" charset="0"/>
                <a:cs typeface="Times New Roman" panose="02020603050405020304" pitchFamily="18" charset="0"/>
              </a:rPr>
              <a:t>lidhja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për</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të</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verifikuar</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funksionimin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korrekt</a:t>
            </a:r>
            <a:r>
              <a:rPr lang="en-US" sz="2000" dirty="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22607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B4FAF004-04A0-C2E9-CC14-24FDEF689DD3}"/>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C0FD0C82-36C8-3790-9877-2BE0210CED65}"/>
              </a:ext>
            </a:extLst>
          </p:cNvPr>
          <p:cNvSpPr/>
          <p:nvPr/>
        </p:nvSpPr>
        <p:spPr>
          <a:xfrm>
            <a:off x="333828" y="6326709"/>
            <a:ext cx="2312095" cy="4428293"/>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Times New Roman" panose="02020603050405020304" pitchFamily="18" charset="0"/>
                <a:cs typeface="Times New Roman" panose="02020603050405020304" pitchFamily="18" charset="0"/>
              </a:rPr>
              <a:t>HYRJE</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792DC72-03EC-D2FB-E935-3BAAEFFD0BBB}"/>
              </a:ext>
            </a:extLst>
          </p:cNvPr>
          <p:cNvSpPr txBox="1"/>
          <p:nvPr/>
        </p:nvSpPr>
        <p:spPr>
          <a:xfrm>
            <a:off x="1279792" y="-2173110"/>
            <a:ext cx="9124748" cy="1384995"/>
          </a:xfrm>
          <a:prstGeom prst="rect">
            <a:avLst/>
          </a:prstGeom>
          <a:noFill/>
        </p:spPr>
        <p:txBody>
          <a:bodyPr wrap="square" rtlCol="0">
            <a:spAutoFit/>
          </a:bodyPr>
          <a:lstStyle/>
          <a:p>
            <a:pPr algn="ctr"/>
            <a:r>
              <a:rPr lang="sq-AL" sz="2800" b="1" dirty="0">
                <a:solidFill>
                  <a:schemeClr val="bg2"/>
                </a:solidFill>
                <a:latin typeface="Times New Roman" panose="02020603050405020304" pitchFamily="18" charset="0"/>
                <a:cs typeface="Times New Roman" panose="02020603050405020304" pitchFamily="18" charset="0"/>
              </a:rPr>
              <a:t>IMPLEMENTIMI I PROTOKOLLIT SSH PER MENAXHIM TE SIGURT TE ROUTER- VE DHE SWITCH-VE</a:t>
            </a:r>
            <a:endParaRPr lang="en-US" sz="2800" dirty="0">
              <a:solidFill>
                <a:schemeClr val="bg2"/>
              </a:solidFill>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2937D6F0-1167-EB4D-5E04-5DB641743B09}"/>
              </a:ext>
            </a:extLst>
          </p:cNvPr>
          <p:cNvSpPr/>
          <p:nvPr/>
        </p:nvSpPr>
        <p:spPr>
          <a:xfrm>
            <a:off x="4686118" y="6326710"/>
            <a:ext cx="2312095" cy="4428292"/>
          </a:xfrm>
          <a:prstGeom prst="roundRect">
            <a:avLst>
              <a:gd name="adj" fmla="val 48432"/>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SSH-SHELL SECURE, TELNET</a:t>
            </a:r>
          </a:p>
        </p:txBody>
      </p:sp>
      <p:sp>
        <p:nvSpPr>
          <p:cNvPr id="16" name="Rectangle: Rounded Corners 15">
            <a:extLst>
              <a:ext uri="{FF2B5EF4-FFF2-40B4-BE49-F238E27FC236}">
                <a16:creationId xmlns:a16="http://schemas.microsoft.com/office/drawing/2014/main" id="{DD76B4D6-B0C6-C861-7235-334580BBA23F}"/>
              </a:ext>
            </a:extLst>
          </p:cNvPr>
          <p:cNvSpPr/>
          <p:nvPr/>
        </p:nvSpPr>
        <p:spPr>
          <a:xfrm>
            <a:off x="0" y="500304"/>
            <a:ext cx="12192000" cy="5659196"/>
          </a:xfrm>
          <a:prstGeom prst="roundRect">
            <a:avLst>
              <a:gd name="adj" fmla="val 1252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AEFE3E5-A2C9-C954-E308-DF41B88AD547}"/>
              </a:ext>
            </a:extLst>
          </p:cNvPr>
          <p:cNvPicPr>
            <a:picLocks noChangeAspect="1"/>
          </p:cNvPicPr>
          <p:nvPr/>
        </p:nvPicPr>
        <p:blipFill>
          <a:blip r:embed="rId2">
            <a:extLst>
              <a:ext uri="{28A0092B-C50C-407E-A947-70E740481C1C}">
                <a14:useLocalDpi xmlns:a14="http://schemas.microsoft.com/office/drawing/2010/main" val="0"/>
              </a:ext>
            </a:extLst>
          </a:blip>
          <a:srcRect t="11852" r="2753"/>
          <a:stretch>
            <a:fillRect/>
          </a:stretch>
        </p:blipFill>
        <p:spPr>
          <a:xfrm>
            <a:off x="110904" y="1904005"/>
            <a:ext cx="5626088" cy="32446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19" name="Table 18">
            <a:extLst>
              <a:ext uri="{FF2B5EF4-FFF2-40B4-BE49-F238E27FC236}">
                <a16:creationId xmlns:a16="http://schemas.microsoft.com/office/drawing/2014/main" id="{4E774FC9-1CD8-6D1B-4CB8-042780A87578}"/>
              </a:ext>
            </a:extLst>
          </p:cNvPr>
          <p:cNvGraphicFramePr>
            <a:graphicFrameLocks noGrp="1"/>
          </p:cNvGraphicFramePr>
          <p:nvPr>
            <p:extLst>
              <p:ext uri="{D42A27DB-BD31-4B8C-83A1-F6EECF244321}">
                <p14:modId xmlns:p14="http://schemas.microsoft.com/office/powerpoint/2010/main" val="1297190678"/>
              </p:ext>
            </p:extLst>
          </p:nvPr>
        </p:nvGraphicFramePr>
        <p:xfrm>
          <a:off x="5892965" y="1904006"/>
          <a:ext cx="6039512" cy="3244655"/>
        </p:xfrm>
        <a:graphic>
          <a:graphicData uri="http://schemas.openxmlformats.org/drawingml/2006/table">
            <a:tbl>
              <a:tblPr firstRow="1" bandRow="1">
                <a:tableStyleId>{5C22544A-7EE6-4342-B048-85BDC9FD1C3A}</a:tableStyleId>
              </a:tblPr>
              <a:tblGrid>
                <a:gridCol w="1445726">
                  <a:extLst>
                    <a:ext uri="{9D8B030D-6E8A-4147-A177-3AD203B41FA5}">
                      <a16:colId xmlns:a16="http://schemas.microsoft.com/office/drawing/2014/main" val="1522528679"/>
                    </a:ext>
                  </a:extLst>
                </a:gridCol>
                <a:gridCol w="1531262">
                  <a:extLst>
                    <a:ext uri="{9D8B030D-6E8A-4147-A177-3AD203B41FA5}">
                      <a16:colId xmlns:a16="http://schemas.microsoft.com/office/drawing/2014/main" val="93980528"/>
                    </a:ext>
                  </a:extLst>
                </a:gridCol>
                <a:gridCol w="1531262">
                  <a:extLst>
                    <a:ext uri="{9D8B030D-6E8A-4147-A177-3AD203B41FA5}">
                      <a16:colId xmlns:a16="http://schemas.microsoft.com/office/drawing/2014/main" val="1388698891"/>
                    </a:ext>
                  </a:extLst>
                </a:gridCol>
                <a:gridCol w="1531262">
                  <a:extLst>
                    <a:ext uri="{9D8B030D-6E8A-4147-A177-3AD203B41FA5}">
                      <a16:colId xmlns:a16="http://schemas.microsoft.com/office/drawing/2014/main" val="4129607041"/>
                    </a:ext>
                  </a:extLst>
                </a:gridCol>
              </a:tblGrid>
              <a:tr h="648931">
                <a:tc>
                  <a:txBody>
                    <a:bodyPr/>
                    <a:lstStyle/>
                    <a:p>
                      <a:r>
                        <a:rPr lang="en-US" dirty="0" err="1"/>
                        <a:t>Pajisja</a:t>
                      </a:r>
                      <a:endParaRPr lang="en-US" dirty="0"/>
                    </a:p>
                  </a:txBody>
                  <a:tcPr/>
                </a:tc>
                <a:tc>
                  <a:txBody>
                    <a:bodyPr/>
                    <a:lstStyle/>
                    <a:p>
                      <a:r>
                        <a:rPr lang="en-US" dirty="0"/>
                        <a:t>IP ADRESS</a:t>
                      </a:r>
                    </a:p>
                  </a:txBody>
                  <a:tcPr/>
                </a:tc>
                <a:tc>
                  <a:txBody>
                    <a:bodyPr/>
                    <a:lstStyle/>
                    <a:p>
                      <a:r>
                        <a:rPr lang="en-US" dirty="0"/>
                        <a:t>SUBNET MASK</a:t>
                      </a:r>
                    </a:p>
                  </a:txBody>
                  <a:tcPr/>
                </a:tc>
                <a:tc>
                  <a:txBody>
                    <a:bodyPr/>
                    <a:lstStyle/>
                    <a:p>
                      <a:r>
                        <a:rPr lang="en-US" dirty="0"/>
                        <a:t>GATEWAY</a:t>
                      </a:r>
                    </a:p>
                  </a:txBody>
                  <a:tcPr/>
                </a:tc>
                <a:extLst>
                  <a:ext uri="{0D108BD9-81ED-4DB2-BD59-A6C34878D82A}">
                    <a16:rowId xmlns:a16="http://schemas.microsoft.com/office/drawing/2014/main" val="1622512589"/>
                  </a:ext>
                </a:extLst>
              </a:tr>
              <a:tr h="648931">
                <a:tc>
                  <a:txBody>
                    <a:bodyPr/>
                    <a:lstStyle/>
                    <a:p>
                      <a:r>
                        <a:rPr lang="en-US" dirty="0"/>
                        <a:t>PC1</a:t>
                      </a:r>
                    </a:p>
                  </a:txBody>
                  <a:tcPr/>
                </a:tc>
                <a:tc>
                  <a:txBody>
                    <a:bodyPr/>
                    <a:lstStyle/>
                    <a:p>
                      <a:r>
                        <a:rPr lang="en-US" dirty="0"/>
                        <a:t>192.168.1.10</a:t>
                      </a:r>
                    </a:p>
                  </a:txBody>
                  <a:tcPr/>
                </a:tc>
                <a:tc>
                  <a:txBody>
                    <a:bodyPr/>
                    <a:lstStyle/>
                    <a:p>
                      <a:r>
                        <a:rPr lang="en-US" dirty="0"/>
                        <a:t>255.255.255.0</a:t>
                      </a:r>
                    </a:p>
                  </a:txBody>
                  <a:tcPr/>
                </a:tc>
                <a:tc>
                  <a:txBody>
                    <a:bodyPr/>
                    <a:lstStyle/>
                    <a:p>
                      <a:r>
                        <a:rPr lang="en-US" dirty="0"/>
                        <a:t>192.168.1.1</a:t>
                      </a:r>
                    </a:p>
                  </a:txBody>
                  <a:tcPr/>
                </a:tc>
                <a:extLst>
                  <a:ext uri="{0D108BD9-81ED-4DB2-BD59-A6C34878D82A}">
                    <a16:rowId xmlns:a16="http://schemas.microsoft.com/office/drawing/2014/main" val="3752578474"/>
                  </a:ext>
                </a:extLst>
              </a:tr>
              <a:tr h="648931">
                <a:tc>
                  <a:txBody>
                    <a:bodyPr/>
                    <a:lstStyle/>
                    <a:p>
                      <a:r>
                        <a:rPr lang="en-US" dirty="0"/>
                        <a:t>PC2</a:t>
                      </a:r>
                    </a:p>
                  </a:txBody>
                  <a:tcPr/>
                </a:tc>
                <a:tc>
                  <a:txBody>
                    <a:bodyPr/>
                    <a:lstStyle/>
                    <a:p>
                      <a:r>
                        <a:rPr lang="en-US" dirty="0"/>
                        <a:t>192.168.1.11</a:t>
                      </a:r>
                    </a:p>
                  </a:txBody>
                  <a:tcPr/>
                </a:tc>
                <a:tc>
                  <a:txBody>
                    <a:bodyPr/>
                    <a:lstStyle/>
                    <a:p>
                      <a:r>
                        <a:rPr lang="en-US" dirty="0"/>
                        <a:t>255.255.255.0</a:t>
                      </a:r>
                    </a:p>
                  </a:txBody>
                  <a:tcPr/>
                </a:tc>
                <a:tc>
                  <a:txBody>
                    <a:bodyPr/>
                    <a:lstStyle/>
                    <a:p>
                      <a:r>
                        <a:rPr lang="en-US" dirty="0"/>
                        <a:t>192.168.1.1</a:t>
                      </a:r>
                    </a:p>
                  </a:txBody>
                  <a:tcPr/>
                </a:tc>
                <a:extLst>
                  <a:ext uri="{0D108BD9-81ED-4DB2-BD59-A6C34878D82A}">
                    <a16:rowId xmlns:a16="http://schemas.microsoft.com/office/drawing/2014/main" val="1445945667"/>
                  </a:ext>
                </a:extLst>
              </a:tr>
              <a:tr h="648931">
                <a:tc>
                  <a:txBody>
                    <a:bodyPr/>
                    <a:lstStyle/>
                    <a:p>
                      <a:r>
                        <a:rPr lang="en-US" dirty="0"/>
                        <a:t>PC3</a:t>
                      </a:r>
                    </a:p>
                  </a:txBody>
                  <a:tcPr/>
                </a:tc>
                <a:tc>
                  <a:txBody>
                    <a:bodyPr/>
                    <a:lstStyle/>
                    <a:p>
                      <a:r>
                        <a:rPr lang="en-US" dirty="0"/>
                        <a:t>192.168.2.10</a:t>
                      </a:r>
                    </a:p>
                  </a:txBody>
                  <a:tcPr/>
                </a:tc>
                <a:tc>
                  <a:txBody>
                    <a:bodyPr/>
                    <a:lstStyle/>
                    <a:p>
                      <a:r>
                        <a:rPr lang="en-US" dirty="0"/>
                        <a:t>255.255.255.0</a:t>
                      </a:r>
                    </a:p>
                  </a:txBody>
                  <a:tcPr/>
                </a:tc>
                <a:tc>
                  <a:txBody>
                    <a:bodyPr/>
                    <a:lstStyle/>
                    <a:p>
                      <a:r>
                        <a:rPr lang="en-US" dirty="0"/>
                        <a:t>192.168.2.1</a:t>
                      </a:r>
                    </a:p>
                  </a:txBody>
                  <a:tcPr/>
                </a:tc>
                <a:extLst>
                  <a:ext uri="{0D108BD9-81ED-4DB2-BD59-A6C34878D82A}">
                    <a16:rowId xmlns:a16="http://schemas.microsoft.com/office/drawing/2014/main" val="1938745013"/>
                  </a:ext>
                </a:extLst>
              </a:tr>
              <a:tr h="648931">
                <a:tc>
                  <a:txBody>
                    <a:bodyPr/>
                    <a:lstStyle/>
                    <a:p>
                      <a:r>
                        <a:rPr lang="en-US" dirty="0"/>
                        <a:t>PC4</a:t>
                      </a:r>
                    </a:p>
                  </a:txBody>
                  <a:tcPr/>
                </a:tc>
                <a:tc>
                  <a:txBody>
                    <a:bodyPr/>
                    <a:lstStyle/>
                    <a:p>
                      <a:r>
                        <a:rPr lang="en-US" dirty="0"/>
                        <a:t>192.168.2.11</a:t>
                      </a:r>
                    </a:p>
                  </a:txBody>
                  <a:tcPr/>
                </a:tc>
                <a:tc>
                  <a:txBody>
                    <a:bodyPr/>
                    <a:lstStyle/>
                    <a:p>
                      <a:r>
                        <a:rPr lang="en-US" dirty="0"/>
                        <a:t>255.255.255.0</a:t>
                      </a:r>
                    </a:p>
                  </a:txBody>
                  <a:tcPr/>
                </a:tc>
                <a:tc>
                  <a:txBody>
                    <a:bodyPr/>
                    <a:lstStyle/>
                    <a:p>
                      <a:r>
                        <a:rPr lang="en-US" dirty="0"/>
                        <a:t>192.168.2.1</a:t>
                      </a:r>
                    </a:p>
                  </a:txBody>
                  <a:tcPr/>
                </a:tc>
                <a:extLst>
                  <a:ext uri="{0D108BD9-81ED-4DB2-BD59-A6C34878D82A}">
                    <a16:rowId xmlns:a16="http://schemas.microsoft.com/office/drawing/2014/main" val="3364452560"/>
                  </a:ext>
                </a:extLst>
              </a:tr>
            </a:tbl>
          </a:graphicData>
        </a:graphic>
      </p:graphicFrame>
      <p:sp>
        <p:nvSpPr>
          <p:cNvPr id="20" name="Rectangle: Rounded Corners 19">
            <a:extLst>
              <a:ext uri="{FF2B5EF4-FFF2-40B4-BE49-F238E27FC236}">
                <a16:creationId xmlns:a16="http://schemas.microsoft.com/office/drawing/2014/main" id="{E3252843-212C-80FD-3714-57CBA1332F6F}"/>
              </a:ext>
            </a:extLst>
          </p:cNvPr>
          <p:cNvSpPr/>
          <p:nvPr/>
        </p:nvSpPr>
        <p:spPr>
          <a:xfrm>
            <a:off x="3064806" y="723797"/>
            <a:ext cx="4025900" cy="749300"/>
          </a:xfrm>
          <a:prstGeom prst="roundRect">
            <a:avLst>
              <a:gd name="adj" fmla="val 50000"/>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accent1">
                    <a:lumMod val="75000"/>
                  </a:schemeClr>
                </a:solidFill>
                <a:latin typeface="Times New Roman" panose="02020603050405020304" pitchFamily="18" charset="0"/>
                <a:cs typeface="Times New Roman" panose="02020603050405020304" pitchFamily="18" charset="0"/>
              </a:rPr>
              <a:t>Struktura</a:t>
            </a:r>
            <a:r>
              <a:rPr lang="en-US" b="1" dirty="0">
                <a:solidFill>
                  <a:schemeClr val="accent1">
                    <a:lumMod val="75000"/>
                  </a:schemeClr>
                </a:solidFill>
                <a:latin typeface="Times New Roman" panose="02020603050405020304" pitchFamily="18" charset="0"/>
                <a:cs typeface="Times New Roman" panose="02020603050405020304" pitchFamily="18" charset="0"/>
              </a:rPr>
              <a:t> </a:t>
            </a:r>
            <a:r>
              <a:rPr lang="en-US" b="1" dirty="0" err="1">
                <a:solidFill>
                  <a:schemeClr val="accent1">
                    <a:lumMod val="75000"/>
                  </a:schemeClr>
                </a:solidFill>
                <a:latin typeface="Times New Roman" panose="02020603050405020304" pitchFamily="18" charset="0"/>
                <a:cs typeface="Times New Roman" panose="02020603050405020304" pitchFamily="18" charset="0"/>
              </a:rPr>
              <a:t>dhe</a:t>
            </a:r>
            <a:r>
              <a:rPr lang="en-US" b="1" dirty="0">
                <a:solidFill>
                  <a:schemeClr val="accent1">
                    <a:lumMod val="75000"/>
                  </a:schemeClr>
                </a:solidFill>
                <a:latin typeface="Times New Roman" panose="02020603050405020304" pitchFamily="18" charset="0"/>
                <a:cs typeface="Times New Roman" panose="02020603050405020304" pitchFamily="18" charset="0"/>
              </a:rPr>
              <a:t> </a:t>
            </a:r>
            <a:r>
              <a:rPr lang="en-US" b="1" dirty="0" err="1">
                <a:solidFill>
                  <a:schemeClr val="accent1">
                    <a:lumMod val="75000"/>
                  </a:schemeClr>
                </a:solidFill>
                <a:latin typeface="Times New Roman" panose="02020603050405020304" pitchFamily="18" charset="0"/>
                <a:cs typeface="Times New Roman" panose="02020603050405020304" pitchFamily="18" charset="0"/>
              </a:rPr>
              <a:t>Topologjia</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1737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5AD14C71-021A-53BB-4EF6-C5A10828215B}"/>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3EE234E7-7F75-08AC-7F1C-046AEAF32143}"/>
              </a:ext>
            </a:extLst>
          </p:cNvPr>
          <p:cNvSpPr/>
          <p:nvPr/>
        </p:nvSpPr>
        <p:spPr>
          <a:xfrm>
            <a:off x="555751" y="1321068"/>
            <a:ext cx="2857308" cy="4215864"/>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KONFIGURIMI </a:t>
            </a:r>
          </a:p>
        </p:txBody>
      </p:sp>
      <p:sp>
        <p:nvSpPr>
          <p:cNvPr id="15" name="Rectangle: Rounded Corners 14">
            <a:extLst>
              <a:ext uri="{FF2B5EF4-FFF2-40B4-BE49-F238E27FC236}">
                <a16:creationId xmlns:a16="http://schemas.microsoft.com/office/drawing/2014/main" id="{626AE4FD-5E59-947E-6306-EE8512546EA6}"/>
              </a:ext>
            </a:extLst>
          </p:cNvPr>
          <p:cNvSpPr/>
          <p:nvPr/>
        </p:nvSpPr>
        <p:spPr>
          <a:xfrm>
            <a:off x="4648260" y="1321068"/>
            <a:ext cx="3086040" cy="4215864"/>
          </a:xfrm>
          <a:prstGeom prst="roundRect">
            <a:avLst>
              <a:gd name="adj" fmla="val 48432"/>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AKTIVIZIMI I SSH</a:t>
            </a:r>
          </a:p>
        </p:txBody>
      </p:sp>
      <p:sp>
        <p:nvSpPr>
          <p:cNvPr id="16" name="Rectangle: Rounded Corners 15">
            <a:extLst>
              <a:ext uri="{FF2B5EF4-FFF2-40B4-BE49-F238E27FC236}">
                <a16:creationId xmlns:a16="http://schemas.microsoft.com/office/drawing/2014/main" id="{9AB9DB9A-A11E-7BC8-6BDB-8A70101A3682}"/>
              </a:ext>
            </a:extLst>
          </p:cNvPr>
          <p:cNvSpPr/>
          <p:nvPr/>
        </p:nvSpPr>
        <p:spPr>
          <a:xfrm>
            <a:off x="8738301" y="1321068"/>
            <a:ext cx="3086039" cy="4215864"/>
          </a:xfrm>
          <a:prstGeom prst="roundRect">
            <a:avLst>
              <a:gd name="adj" fmla="val 484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KRAHASIMI I TELNET</a:t>
            </a:r>
          </a:p>
        </p:txBody>
      </p:sp>
    </p:spTree>
    <p:extLst>
      <p:ext uri="{BB962C8B-B14F-4D97-AF65-F5344CB8AC3E}">
        <p14:creationId xmlns:p14="http://schemas.microsoft.com/office/powerpoint/2010/main" val="1003594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2359212F-130E-7E37-F461-1CB3BE8A7D67}"/>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D5562302-C4E2-EC63-5D1C-6AFFE3C9AC4B}"/>
              </a:ext>
            </a:extLst>
          </p:cNvPr>
          <p:cNvSpPr/>
          <p:nvPr/>
        </p:nvSpPr>
        <p:spPr>
          <a:xfrm>
            <a:off x="582675" y="295175"/>
            <a:ext cx="11026649" cy="9779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KONFIGURIMI</a:t>
            </a:r>
          </a:p>
        </p:txBody>
      </p:sp>
      <p:sp>
        <p:nvSpPr>
          <p:cNvPr id="15" name="Rectangle: Rounded Corners 14">
            <a:extLst>
              <a:ext uri="{FF2B5EF4-FFF2-40B4-BE49-F238E27FC236}">
                <a16:creationId xmlns:a16="http://schemas.microsoft.com/office/drawing/2014/main" id="{8BED2E83-A2D1-F7E3-DEC4-5055DD451A3A}"/>
              </a:ext>
            </a:extLst>
          </p:cNvPr>
          <p:cNvSpPr/>
          <p:nvPr/>
        </p:nvSpPr>
        <p:spPr>
          <a:xfrm>
            <a:off x="4552980" y="6528068"/>
            <a:ext cx="3086040" cy="4215864"/>
          </a:xfrm>
          <a:prstGeom prst="roundRect">
            <a:avLst>
              <a:gd name="adj" fmla="val 48432"/>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AKTIVIZIMI I SSH</a:t>
            </a:r>
          </a:p>
        </p:txBody>
      </p:sp>
      <p:sp>
        <p:nvSpPr>
          <p:cNvPr id="16" name="Rectangle: Rounded Corners 15">
            <a:extLst>
              <a:ext uri="{FF2B5EF4-FFF2-40B4-BE49-F238E27FC236}">
                <a16:creationId xmlns:a16="http://schemas.microsoft.com/office/drawing/2014/main" id="{EA787CAD-A1F8-7540-FBA4-B554D2EDF7B4}"/>
              </a:ext>
            </a:extLst>
          </p:cNvPr>
          <p:cNvSpPr/>
          <p:nvPr/>
        </p:nvSpPr>
        <p:spPr>
          <a:xfrm>
            <a:off x="8382701" y="6426468"/>
            <a:ext cx="3086039" cy="4215864"/>
          </a:xfrm>
          <a:prstGeom prst="roundRect">
            <a:avLst>
              <a:gd name="adj" fmla="val 484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KRAHASIMI I TELNET</a:t>
            </a:r>
          </a:p>
        </p:txBody>
      </p:sp>
      <p:pic>
        <p:nvPicPr>
          <p:cNvPr id="3" name="Picture 2">
            <a:extLst>
              <a:ext uri="{FF2B5EF4-FFF2-40B4-BE49-F238E27FC236}">
                <a16:creationId xmlns:a16="http://schemas.microsoft.com/office/drawing/2014/main" id="{7A539F4C-863F-75AE-2240-C5CFB9A0B7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6413"/>
            <a:ext cx="3570973" cy="50500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a:extLst>
              <a:ext uri="{FF2B5EF4-FFF2-40B4-BE49-F238E27FC236}">
                <a16:creationId xmlns:a16="http://schemas.microsoft.com/office/drawing/2014/main" id="{DC108707-198B-0B4E-DFAA-C25FF8E8D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1110" y="1376413"/>
            <a:ext cx="3314583" cy="492780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extBox 5">
            <a:extLst>
              <a:ext uri="{FF2B5EF4-FFF2-40B4-BE49-F238E27FC236}">
                <a16:creationId xmlns:a16="http://schemas.microsoft.com/office/drawing/2014/main" id="{D5EA1850-5568-9E79-14FF-45BFE926A871}"/>
              </a:ext>
            </a:extLst>
          </p:cNvPr>
          <p:cNvSpPr txBox="1"/>
          <p:nvPr/>
        </p:nvSpPr>
        <p:spPr>
          <a:xfrm>
            <a:off x="7639020" y="2885777"/>
            <a:ext cx="3970304" cy="2031325"/>
          </a:xfrm>
          <a:prstGeom prst="rect">
            <a:avLst/>
          </a:prstGeom>
          <a:noFill/>
        </p:spPr>
        <p:txBody>
          <a:bodyPr wrap="square" rtlCol="0">
            <a:spAutoFit/>
          </a:bodyPr>
          <a:lstStyle/>
          <a:p>
            <a:pPr algn="ctr"/>
            <a:r>
              <a:rPr lang="en-US" dirty="0" err="1">
                <a:solidFill>
                  <a:schemeClr val="bg1"/>
                </a:solidFill>
                <a:latin typeface="Times New Roman" panose="02020603050405020304" pitchFamily="18" charset="0"/>
                <a:cs typeface="Times New Roman" panose="02020603050405020304" pitchFamily="18" charset="0"/>
              </a:rPr>
              <a:t>Realizimi</a:t>
            </a:r>
            <a:r>
              <a:rPr lang="en-US" dirty="0">
                <a:solidFill>
                  <a:schemeClr val="bg1"/>
                </a:solidFill>
                <a:latin typeface="Times New Roman" panose="02020603050405020304" pitchFamily="18" charset="0"/>
                <a:cs typeface="Times New Roman" panose="02020603050405020304" pitchFamily="18" charset="0"/>
              </a:rPr>
              <a:t> I </a:t>
            </a:r>
            <a:r>
              <a:rPr lang="en-US" dirty="0" err="1">
                <a:solidFill>
                  <a:schemeClr val="bg1"/>
                </a:solidFill>
                <a:latin typeface="Times New Roman" panose="02020603050405020304" pitchFamily="18" charset="0"/>
                <a:cs typeface="Times New Roman" panose="02020603050405020304" pitchFamily="18" charset="0"/>
              </a:rPr>
              <a:t>konfigurimit</a:t>
            </a:r>
            <a:endParaRPr lang="en-US" dirty="0">
              <a:solidFill>
                <a:schemeClr val="bg1"/>
              </a:solidFill>
              <a:latin typeface="Times New Roman" panose="02020603050405020304" pitchFamily="18" charset="0"/>
              <a:cs typeface="Times New Roman" panose="02020603050405020304" pitchFamily="18" charset="0"/>
            </a:endParaRPr>
          </a:p>
          <a:p>
            <a:pPr algn="ctr"/>
            <a:r>
              <a:rPr lang="en-US" dirty="0" err="1">
                <a:solidFill>
                  <a:schemeClr val="bg1"/>
                </a:solidFill>
                <a:latin typeface="Times New Roman" panose="02020603050405020304" pitchFamily="18" charset="0"/>
                <a:cs typeface="Times New Roman" panose="02020603050405020304" pitchFamily="18" charset="0"/>
              </a:rPr>
              <a:t>Vendosja</a:t>
            </a:r>
            <a:r>
              <a:rPr lang="en-US" dirty="0">
                <a:solidFill>
                  <a:schemeClr val="bg1"/>
                </a:solidFill>
                <a:latin typeface="Times New Roman" panose="02020603050405020304" pitchFamily="18" charset="0"/>
                <a:cs typeface="Times New Roman" panose="02020603050405020304" pitchFamily="18" charset="0"/>
              </a:rPr>
              <a:t> e IP address </a:t>
            </a:r>
            <a:r>
              <a:rPr lang="en-US" dirty="0" err="1">
                <a:solidFill>
                  <a:schemeClr val="bg1"/>
                </a:solidFill>
                <a:latin typeface="Times New Roman" panose="02020603050405020304" pitchFamily="18" charset="0"/>
                <a:cs typeface="Times New Roman" panose="02020603050405020304" pitchFamily="18" charset="0"/>
              </a:rPr>
              <a:t>në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qdo</a:t>
            </a:r>
            <a:r>
              <a:rPr lang="en-US" dirty="0">
                <a:solidFill>
                  <a:schemeClr val="bg1"/>
                </a:solidFill>
                <a:latin typeface="Times New Roman" panose="02020603050405020304" pitchFamily="18" charset="0"/>
                <a:cs typeface="Times New Roman" panose="02020603050405020304" pitchFamily="18" charset="0"/>
              </a:rPr>
              <a:t> PC</a:t>
            </a:r>
          </a:p>
          <a:p>
            <a:pPr algn="ctr"/>
            <a:r>
              <a:rPr lang="en-US" dirty="0" err="1">
                <a:solidFill>
                  <a:schemeClr val="bg1"/>
                </a:solidFill>
                <a:latin typeface="Times New Roman" panose="02020603050405020304" pitchFamily="18" charset="0"/>
                <a:cs typeface="Times New Roman" panose="02020603050405020304" pitchFamily="18" charset="0"/>
              </a:rPr>
              <a:t>Konfigurimi</a:t>
            </a:r>
            <a:r>
              <a:rPr lang="en-US" dirty="0">
                <a:solidFill>
                  <a:schemeClr val="bg1"/>
                </a:solidFill>
                <a:latin typeface="Times New Roman" panose="02020603050405020304" pitchFamily="18" charset="0"/>
                <a:cs typeface="Times New Roman" panose="02020603050405020304" pitchFamily="18" charset="0"/>
              </a:rPr>
              <a:t> interface </a:t>
            </a:r>
            <a:r>
              <a:rPr lang="en-US" dirty="0" err="1">
                <a:solidFill>
                  <a:schemeClr val="bg1"/>
                </a:solidFill>
                <a:latin typeface="Times New Roman" panose="02020603050405020304" pitchFamily="18" charset="0"/>
                <a:cs typeface="Times New Roman" panose="02020603050405020304" pitchFamily="18" charset="0"/>
              </a:rPr>
              <a:t>dhe</a:t>
            </a:r>
            <a:r>
              <a:rPr lang="en-US" dirty="0">
                <a:solidFill>
                  <a:schemeClr val="bg1"/>
                </a:solidFill>
                <a:latin typeface="Times New Roman" panose="02020603050405020304" pitchFamily="18" charset="0"/>
                <a:cs typeface="Times New Roman" panose="02020603050405020304" pitchFamily="18" charset="0"/>
              </a:rPr>
              <a:t> router </a:t>
            </a:r>
            <a:r>
              <a:rPr lang="en-US" dirty="0" err="1">
                <a:solidFill>
                  <a:schemeClr val="bg1"/>
                </a:solidFill>
                <a:latin typeface="Times New Roman" panose="02020603050405020304" pitchFamily="18" charset="0"/>
                <a:cs typeface="Times New Roman" panose="02020603050405020304" pitchFamily="18" charset="0"/>
              </a:rPr>
              <a:t>për</a:t>
            </a:r>
            <a:r>
              <a:rPr lang="en-US" dirty="0">
                <a:solidFill>
                  <a:schemeClr val="bg1"/>
                </a:solidFill>
                <a:latin typeface="Times New Roman" panose="02020603050405020304" pitchFamily="18" charset="0"/>
                <a:cs typeface="Times New Roman" panose="02020603050405020304" pitchFamily="18" charset="0"/>
              </a:rPr>
              <a:t> PC </a:t>
            </a:r>
            <a:r>
              <a:rPr lang="en-US" dirty="0" err="1">
                <a:solidFill>
                  <a:schemeClr val="bg1"/>
                </a:solidFill>
                <a:latin typeface="Times New Roman" panose="02020603050405020304" pitchFamily="18" charset="0"/>
                <a:cs typeface="Times New Roman" panose="02020603050405020304" pitchFamily="18" charset="0"/>
              </a:rPr>
              <a:t>perkatese</a:t>
            </a:r>
            <a:r>
              <a:rPr lang="en-US" dirty="0">
                <a:solidFill>
                  <a:schemeClr val="bg1"/>
                </a:solidFill>
                <a:latin typeface="Times New Roman" panose="02020603050405020304" pitchFamily="18" charset="0"/>
                <a:cs typeface="Times New Roman" panose="02020603050405020304" pitchFamily="18" charset="0"/>
              </a:rPr>
              <a:t>.</a:t>
            </a:r>
          </a:p>
          <a:p>
            <a:pPr algn="ctr"/>
            <a:r>
              <a:rPr lang="en-US" dirty="0" err="1">
                <a:solidFill>
                  <a:schemeClr val="bg1"/>
                </a:solidFill>
                <a:latin typeface="Times New Roman" panose="02020603050405020304" pitchFamily="18" charset="0"/>
                <a:cs typeface="Times New Roman" panose="02020603050405020304" pitchFamily="18" charset="0"/>
              </a:rPr>
              <a:t>Verifikimi</a:t>
            </a:r>
            <a:r>
              <a:rPr lang="en-US" dirty="0">
                <a:solidFill>
                  <a:schemeClr val="bg1"/>
                </a:solidFill>
                <a:latin typeface="Times New Roman" panose="02020603050405020304" pitchFamily="18" charset="0"/>
                <a:cs typeface="Times New Roman" panose="02020603050405020304" pitchFamily="18" charset="0"/>
              </a:rPr>
              <a:t> I </a:t>
            </a:r>
            <a:r>
              <a:rPr lang="en-US" dirty="0" err="1">
                <a:solidFill>
                  <a:schemeClr val="bg1"/>
                </a:solidFill>
                <a:latin typeface="Times New Roman" panose="02020603050405020304" pitchFamily="18" charset="0"/>
                <a:cs typeface="Times New Roman" panose="02020603050405020304" pitchFamily="18" charset="0"/>
              </a:rPr>
              <a:t>konfigurimit</a:t>
            </a:r>
            <a:r>
              <a:rPr lang="en-US" dirty="0">
                <a:solidFill>
                  <a:schemeClr val="bg1"/>
                </a:solidFill>
                <a:latin typeface="Times New Roman" panose="02020603050405020304" pitchFamily="18" charset="0"/>
                <a:cs typeface="Times New Roman" panose="02020603050405020304" pitchFamily="18" charset="0"/>
              </a:rPr>
              <a:t> me </a:t>
            </a:r>
            <a:r>
              <a:rPr lang="en-US" dirty="0" err="1">
                <a:solidFill>
                  <a:schemeClr val="bg1"/>
                </a:solidFill>
                <a:latin typeface="Times New Roman" panose="02020603050405020304" pitchFamily="18" charset="0"/>
                <a:cs typeface="Times New Roman" panose="02020603050405020304" pitchFamily="18" charset="0"/>
              </a:rPr>
              <a:t>komandën</a:t>
            </a:r>
            <a:endParaRPr lang="en-US" dirty="0">
              <a:solidFill>
                <a:schemeClr val="bg1"/>
              </a:solidFill>
              <a:latin typeface="Times New Roman" panose="02020603050405020304" pitchFamily="18" charset="0"/>
              <a:cs typeface="Times New Roman" panose="02020603050405020304" pitchFamily="18" charset="0"/>
            </a:endParaRPr>
          </a:p>
          <a:p>
            <a:pPr marL="285750" indent="-285750" algn="ctr">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show </a:t>
            </a:r>
            <a:r>
              <a:rPr lang="en-US" dirty="0" err="1">
                <a:solidFill>
                  <a:schemeClr val="bg1"/>
                </a:solidFill>
                <a:latin typeface="Times New Roman" panose="02020603050405020304" pitchFamily="18" charset="0"/>
                <a:cs typeface="Times New Roman" panose="02020603050405020304" pitchFamily="18" charset="0"/>
              </a:rPr>
              <a:t>ip</a:t>
            </a:r>
            <a:r>
              <a:rPr lang="en-US" dirty="0">
                <a:solidFill>
                  <a:schemeClr val="bg1"/>
                </a:solidFill>
                <a:latin typeface="Times New Roman" panose="02020603050405020304" pitchFamily="18" charset="0"/>
                <a:cs typeface="Times New Roman" panose="02020603050405020304" pitchFamily="18" charset="0"/>
              </a:rPr>
              <a:t> interface brief</a:t>
            </a:r>
          </a:p>
          <a:p>
            <a:endParaRPr lang="en-US" dirty="0"/>
          </a:p>
        </p:txBody>
      </p:sp>
    </p:spTree>
    <p:extLst>
      <p:ext uri="{BB962C8B-B14F-4D97-AF65-F5344CB8AC3E}">
        <p14:creationId xmlns:p14="http://schemas.microsoft.com/office/powerpoint/2010/main" val="32295000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0A750DF6-22C1-8A88-5034-0196AF360F7E}"/>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A25B59BF-D628-E243-8EAC-3CF49E84D720}"/>
              </a:ext>
            </a:extLst>
          </p:cNvPr>
          <p:cNvSpPr/>
          <p:nvPr/>
        </p:nvSpPr>
        <p:spPr>
          <a:xfrm>
            <a:off x="423088" y="6528068"/>
            <a:ext cx="3086039" cy="4215865"/>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q-AL" b="1" noProof="0" dirty="0">
                <a:solidFill>
                  <a:schemeClr val="bg1"/>
                </a:solidFill>
                <a:latin typeface="Times New Roman" panose="02020603050405020304" pitchFamily="18" charset="0"/>
                <a:cs typeface="Times New Roman" panose="02020603050405020304" pitchFamily="18" charset="0"/>
              </a:rPr>
              <a:t>KONFIGURIMI</a:t>
            </a:r>
          </a:p>
        </p:txBody>
      </p:sp>
      <p:sp>
        <p:nvSpPr>
          <p:cNvPr id="15" name="Rectangle: Rounded Corners 14">
            <a:extLst>
              <a:ext uri="{FF2B5EF4-FFF2-40B4-BE49-F238E27FC236}">
                <a16:creationId xmlns:a16="http://schemas.microsoft.com/office/drawing/2014/main" id="{C6439762-06DE-BA0D-4D36-C4319590ADE6}"/>
              </a:ext>
            </a:extLst>
          </p:cNvPr>
          <p:cNvSpPr/>
          <p:nvPr/>
        </p:nvSpPr>
        <p:spPr>
          <a:xfrm>
            <a:off x="6379504" y="90706"/>
            <a:ext cx="4006394" cy="1044412"/>
          </a:xfrm>
          <a:prstGeom prst="roundRect">
            <a:avLst>
              <a:gd name="adj" fmla="val 46541"/>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q-AL" b="1" noProof="0" dirty="0">
                <a:latin typeface="Times New Roman" panose="02020603050405020304" pitchFamily="18" charset="0"/>
                <a:cs typeface="Times New Roman" panose="02020603050405020304" pitchFamily="18" charset="0"/>
              </a:rPr>
              <a:t>AKTIVIZIMI I SSH</a:t>
            </a:r>
          </a:p>
        </p:txBody>
      </p:sp>
      <p:sp>
        <p:nvSpPr>
          <p:cNvPr id="16" name="Rectangle: Rounded Corners 15">
            <a:extLst>
              <a:ext uri="{FF2B5EF4-FFF2-40B4-BE49-F238E27FC236}">
                <a16:creationId xmlns:a16="http://schemas.microsoft.com/office/drawing/2014/main" id="{561F35E2-0A22-7B89-E802-9B4982A79100}"/>
              </a:ext>
            </a:extLst>
          </p:cNvPr>
          <p:cNvSpPr/>
          <p:nvPr/>
        </p:nvSpPr>
        <p:spPr>
          <a:xfrm>
            <a:off x="8382701" y="6426468"/>
            <a:ext cx="3086039" cy="4215864"/>
          </a:xfrm>
          <a:prstGeom prst="roundRect">
            <a:avLst>
              <a:gd name="adj" fmla="val 484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q-AL" sz="1400" b="1" noProof="0" dirty="0">
                <a:latin typeface="Times New Roman" panose="02020603050405020304" pitchFamily="18" charset="0"/>
                <a:cs typeface="Times New Roman" panose="02020603050405020304" pitchFamily="18" charset="0"/>
              </a:rPr>
              <a:t>KRAHASIMI I TELNET</a:t>
            </a:r>
          </a:p>
        </p:txBody>
      </p:sp>
      <p:pic>
        <p:nvPicPr>
          <p:cNvPr id="8" name="Picture 7">
            <a:extLst>
              <a:ext uri="{FF2B5EF4-FFF2-40B4-BE49-F238E27FC236}">
                <a16:creationId xmlns:a16="http://schemas.microsoft.com/office/drawing/2014/main" id="{602EDEDA-F64C-D023-4FAC-6A5CC9E7C6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220"/>
            <a:ext cx="5055404" cy="634824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TextBox 8">
            <a:extLst>
              <a:ext uri="{FF2B5EF4-FFF2-40B4-BE49-F238E27FC236}">
                <a16:creationId xmlns:a16="http://schemas.microsoft.com/office/drawing/2014/main" id="{705EBBBA-AE76-9F8A-B9AA-98D7F4C20E90}"/>
              </a:ext>
            </a:extLst>
          </p:cNvPr>
          <p:cNvSpPr txBox="1"/>
          <p:nvPr/>
        </p:nvSpPr>
        <p:spPr>
          <a:xfrm>
            <a:off x="6054030" y="1246782"/>
            <a:ext cx="5055404" cy="4801314"/>
          </a:xfrm>
          <a:prstGeom prst="rect">
            <a:avLst/>
          </a:prstGeom>
          <a:noFill/>
        </p:spPr>
        <p:txBody>
          <a:bodyPr wrap="square" rtlCol="0">
            <a:spAutoFit/>
          </a:bodyPr>
          <a:lstStyle/>
          <a:p>
            <a:r>
              <a:rPr lang="sq-AL" noProof="0" dirty="0">
                <a:solidFill>
                  <a:schemeClr val="bg1"/>
                </a:solidFill>
                <a:latin typeface="Times New Roman" panose="02020603050405020304" pitchFamily="18" charset="0"/>
                <a:cs typeface="Times New Roman" panose="02020603050405020304" pitchFamily="18" charset="0"/>
              </a:rPr>
              <a:t>Për të aktivizuar SSH në router fillimisht duhet të bëhet konfigurimi bazë</a:t>
            </a:r>
          </a:p>
          <a:p>
            <a:r>
              <a:rPr lang="sq-AL" noProof="0" dirty="0">
                <a:solidFill>
                  <a:schemeClr val="bg1"/>
                </a:solidFill>
                <a:latin typeface="Times New Roman" panose="02020603050405020304" pitchFamily="18" charset="0"/>
                <a:cs typeface="Times New Roman" panose="02020603050405020304" pitchFamily="18" charset="0"/>
              </a:rPr>
              <a:t>Vendoset hostname dhe domain name</a:t>
            </a:r>
          </a:p>
          <a:p>
            <a:pPr marL="285750" indent="-285750">
              <a:buFont typeface="Arial" panose="020B0604020202020204" pitchFamily="34" charset="0"/>
              <a:buChar char="•"/>
            </a:pPr>
            <a:r>
              <a:rPr lang="sq-AL" noProof="0" dirty="0">
                <a:solidFill>
                  <a:schemeClr val="bg1"/>
                </a:solidFill>
                <a:latin typeface="Times New Roman" panose="02020603050405020304" pitchFamily="18" charset="0"/>
                <a:cs typeface="Times New Roman" panose="02020603050405020304" pitchFamily="18" charset="0"/>
              </a:rPr>
              <a:t>hostname R0</a:t>
            </a:r>
          </a:p>
          <a:p>
            <a:pPr marL="285750" indent="-285750">
              <a:buFont typeface="Arial" panose="020B0604020202020204" pitchFamily="34" charset="0"/>
              <a:buChar char="•"/>
            </a:pPr>
            <a:r>
              <a:rPr lang="sq-AL" noProof="0" dirty="0">
                <a:solidFill>
                  <a:schemeClr val="bg1"/>
                </a:solidFill>
                <a:latin typeface="Times New Roman" panose="02020603050405020304" pitchFamily="18" charset="0"/>
                <a:cs typeface="Times New Roman" panose="02020603050405020304" pitchFamily="18" charset="0"/>
              </a:rPr>
              <a:t>Ip domain-name lab.local</a:t>
            </a:r>
          </a:p>
          <a:p>
            <a:r>
              <a:rPr lang="sq-AL" noProof="0" dirty="0">
                <a:solidFill>
                  <a:schemeClr val="bg1"/>
                </a:solidFill>
                <a:latin typeface="Times New Roman" panose="02020603050405020304" pitchFamily="18" charset="0"/>
                <a:cs typeface="Times New Roman" panose="02020603050405020304" pitchFamily="18" charset="0"/>
              </a:rPr>
              <a:t>Krijohet një user për autentifikim </a:t>
            </a:r>
          </a:p>
          <a:p>
            <a:pPr marL="285750" indent="-285750">
              <a:buFont typeface="Arial" panose="020B0604020202020204" pitchFamily="34" charset="0"/>
              <a:buChar char="•"/>
            </a:pPr>
            <a:r>
              <a:rPr lang="sq-AL" noProof="0" dirty="0">
                <a:solidFill>
                  <a:schemeClr val="bg1"/>
                </a:solidFill>
                <a:latin typeface="Times New Roman" panose="02020603050405020304" pitchFamily="18" charset="0"/>
                <a:cs typeface="Times New Roman" panose="02020603050405020304" pitchFamily="18" charset="0"/>
              </a:rPr>
              <a:t>username admin secret 1234</a:t>
            </a:r>
          </a:p>
          <a:p>
            <a:r>
              <a:rPr lang="sq-AL" noProof="0" dirty="0">
                <a:solidFill>
                  <a:schemeClr val="bg1"/>
                </a:solidFill>
                <a:latin typeface="Times New Roman" panose="02020603050405020304" pitchFamily="18" charset="0"/>
                <a:cs typeface="Times New Roman" panose="02020603050405020304" pitchFamily="18" charset="0"/>
              </a:rPr>
              <a:t>Gjenerohen qelësat RSA për enkriptim</a:t>
            </a:r>
          </a:p>
          <a:p>
            <a:pPr marL="285750" indent="-285750">
              <a:buFont typeface="Arial" panose="020B0604020202020204" pitchFamily="34" charset="0"/>
              <a:buChar char="•"/>
            </a:pPr>
            <a:r>
              <a:rPr lang="sq-AL" noProof="0" dirty="0">
                <a:solidFill>
                  <a:schemeClr val="bg1"/>
                </a:solidFill>
                <a:latin typeface="Times New Roman" panose="02020603050405020304" pitchFamily="18" charset="0"/>
                <a:cs typeface="Times New Roman" panose="02020603050405020304" pitchFamily="18" charset="0"/>
              </a:rPr>
              <a:t>Crypto key generate rsa</a:t>
            </a:r>
          </a:p>
          <a:p>
            <a:r>
              <a:rPr lang="sq-AL" noProof="0" dirty="0">
                <a:solidFill>
                  <a:schemeClr val="bg1"/>
                </a:solidFill>
                <a:latin typeface="Times New Roman" panose="02020603050405020304" pitchFamily="18" charset="0"/>
                <a:cs typeface="Times New Roman" panose="02020603050405020304" pitchFamily="18" charset="0"/>
              </a:rPr>
              <a:t>Aktivizohet SSH version 2 </a:t>
            </a:r>
          </a:p>
          <a:p>
            <a:pPr marL="285750" indent="-285750">
              <a:buFont typeface="Arial" panose="020B0604020202020204" pitchFamily="34" charset="0"/>
              <a:buChar char="•"/>
            </a:pPr>
            <a:r>
              <a:rPr lang="sq-AL" noProof="0" dirty="0">
                <a:solidFill>
                  <a:schemeClr val="bg1"/>
                </a:solidFill>
                <a:latin typeface="Times New Roman" panose="02020603050405020304" pitchFamily="18" charset="0"/>
                <a:cs typeface="Times New Roman" panose="02020603050405020304" pitchFamily="18" charset="0"/>
              </a:rPr>
              <a:t>Ip ssh version 2</a:t>
            </a:r>
          </a:p>
          <a:p>
            <a:r>
              <a:rPr lang="sq-AL" noProof="0" dirty="0">
                <a:solidFill>
                  <a:schemeClr val="bg1"/>
                </a:solidFill>
                <a:latin typeface="Times New Roman" panose="02020603050405020304" pitchFamily="18" charset="0"/>
                <a:cs typeface="Times New Roman" panose="02020603050405020304" pitchFamily="18" charset="0"/>
              </a:rPr>
              <a:t>Aktivizohet qasja e router përmes SSH duke mundësuar enkriptimin dhe siguron lidhjen në distancë.</a:t>
            </a:r>
          </a:p>
          <a:p>
            <a:pPr marL="285750" indent="-285750">
              <a:buFont typeface="Arial" panose="020B0604020202020204" pitchFamily="34" charset="0"/>
              <a:buChar char="•"/>
            </a:pPr>
            <a:r>
              <a:rPr lang="sq-AL" noProof="0" dirty="0">
                <a:solidFill>
                  <a:schemeClr val="bg1"/>
                </a:solidFill>
                <a:latin typeface="Times New Roman" panose="02020603050405020304" pitchFamily="18" charset="0"/>
                <a:cs typeface="Times New Roman" panose="02020603050405020304" pitchFamily="18" charset="0"/>
              </a:rPr>
              <a:t>line vty 0 4</a:t>
            </a:r>
          </a:p>
          <a:p>
            <a:pPr marL="285750" indent="-285750">
              <a:buFont typeface="Arial" panose="020B0604020202020204" pitchFamily="34" charset="0"/>
              <a:buChar char="•"/>
            </a:pPr>
            <a:r>
              <a:rPr lang="sq-AL" noProof="0" dirty="0">
                <a:solidFill>
                  <a:schemeClr val="bg1"/>
                </a:solidFill>
                <a:latin typeface="Times New Roman" panose="02020603050405020304" pitchFamily="18" charset="0"/>
                <a:cs typeface="Times New Roman" panose="02020603050405020304" pitchFamily="18" charset="0"/>
              </a:rPr>
              <a:t>Login local</a:t>
            </a:r>
          </a:p>
          <a:p>
            <a:pPr marL="285750" indent="-285750">
              <a:buFont typeface="Arial" panose="020B0604020202020204" pitchFamily="34" charset="0"/>
              <a:buChar char="•"/>
            </a:pPr>
            <a:r>
              <a:rPr lang="sq-AL" noProof="0" dirty="0">
                <a:solidFill>
                  <a:schemeClr val="bg1"/>
                </a:solidFill>
                <a:latin typeface="Times New Roman" panose="02020603050405020304" pitchFamily="18" charset="0"/>
                <a:cs typeface="Times New Roman" panose="02020603050405020304" pitchFamily="18" charset="0"/>
              </a:rPr>
              <a:t>Transport input ssh telnet</a:t>
            </a:r>
          </a:p>
        </p:txBody>
      </p:sp>
    </p:spTree>
    <p:extLst>
      <p:ext uri="{BB962C8B-B14F-4D97-AF65-F5344CB8AC3E}">
        <p14:creationId xmlns:p14="http://schemas.microsoft.com/office/powerpoint/2010/main" val="1435281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5385687C-4D90-6F49-C274-058AAE9D403C}"/>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6D1DDD61-8DA2-0518-77F1-D99F1A256C3A}"/>
              </a:ext>
            </a:extLst>
          </p:cNvPr>
          <p:cNvSpPr/>
          <p:nvPr/>
        </p:nvSpPr>
        <p:spPr>
          <a:xfrm>
            <a:off x="423088" y="6528068"/>
            <a:ext cx="3086039" cy="4215865"/>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Times New Roman" panose="02020603050405020304" pitchFamily="18" charset="0"/>
                <a:cs typeface="Times New Roman" panose="02020603050405020304" pitchFamily="18" charset="0"/>
              </a:rPr>
              <a:t>KONFIGURIMI</a:t>
            </a:r>
          </a:p>
        </p:txBody>
      </p:sp>
      <p:sp>
        <p:nvSpPr>
          <p:cNvPr id="15" name="Rectangle: Rounded Corners 14">
            <a:extLst>
              <a:ext uri="{FF2B5EF4-FFF2-40B4-BE49-F238E27FC236}">
                <a16:creationId xmlns:a16="http://schemas.microsoft.com/office/drawing/2014/main" id="{3DC8010F-717C-7720-7F97-565D28DF375C}"/>
              </a:ext>
            </a:extLst>
          </p:cNvPr>
          <p:cNvSpPr/>
          <p:nvPr/>
        </p:nvSpPr>
        <p:spPr>
          <a:xfrm>
            <a:off x="4339832" y="6528069"/>
            <a:ext cx="3086039" cy="4215864"/>
          </a:xfrm>
          <a:prstGeom prst="roundRect">
            <a:avLst>
              <a:gd name="adj" fmla="val 46541"/>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AKTIVIZIMI I SSH</a:t>
            </a:r>
          </a:p>
        </p:txBody>
      </p:sp>
      <p:sp>
        <p:nvSpPr>
          <p:cNvPr id="16" name="Rectangle: Rounded Corners 15">
            <a:extLst>
              <a:ext uri="{FF2B5EF4-FFF2-40B4-BE49-F238E27FC236}">
                <a16:creationId xmlns:a16="http://schemas.microsoft.com/office/drawing/2014/main" id="{31EE8F6B-C6A7-B7A8-242C-98C2816EBB2B}"/>
              </a:ext>
            </a:extLst>
          </p:cNvPr>
          <p:cNvSpPr/>
          <p:nvPr/>
        </p:nvSpPr>
        <p:spPr>
          <a:xfrm>
            <a:off x="87106" y="100796"/>
            <a:ext cx="2744565" cy="1058780"/>
          </a:xfrm>
          <a:prstGeom prst="roundRect">
            <a:avLst>
              <a:gd name="adj" fmla="val 484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KRAHASIMI I TELNET</a:t>
            </a:r>
          </a:p>
        </p:txBody>
      </p:sp>
      <p:pic>
        <p:nvPicPr>
          <p:cNvPr id="5" name="Picture 4">
            <a:extLst>
              <a:ext uri="{FF2B5EF4-FFF2-40B4-BE49-F238E27FC236}">
                <a16:creationId xmlns:a16="http://schemas.microsoft.com/office/drawing/2014/main" id="{7F091CCB-238C-9340-4780-2C66F7ED60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7724" y="193040"/>
            <a:ext cx="3839111" cy="5770880"/>
          </a:xfrm>
          <a:prstGeom prst="rect">
            <a:avLst/>
          </a:prstGeom>
        </p:spPr>
      </p:pic>
      <p:sp>
        <p:nvSpPr>
          <p:cNvPr id="6" name="TextBox 5">
            <a:extLst>
              <a:ext uri="{FF2B5EF4-FFF2-40B4-BE49-F238E27FC236}">
                <a16:creationId xmlns:a16="http://schemas.microsoft.com/office/drawing/2014/main" id="{19D7957A-85B1-4E78-3582-76C76D082535}"/>
              </a:ext>
            </a:extLst>
          </p:cNvPr>
          <p:cNvSpPr txBox="1"/>
          <p:nvPr/>
        </p:nvSpPr>
        <p:spPr>
          <a:xfrm>
            <a:off x="276799" y="1295131"/>
            <a:ext cx="6634480" cy="4801314"/>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Telnet </a:t>
            </a:r>
            <a:r>
              <a:rPr lang="en-US" dirty="0" err="1">
                <a:solidFill>
                  <a:schemeClr val="bg1"/>
                </a:solidFill>
                <a:latin typeface="Times New Roman" panose="02020603050405020304" pitchFamily="18" charset="0"/>
                <a:cs typeface="Times New Roman" panose="02020603050405020304" pitchFamily="18" charset="0"/>
              </a:rPr>
              <a:t>është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një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protokoll</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përdorur</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për</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menaxhimin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distancë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pajisjeve</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rrjetit</a:t>
            </a:r>
            <a:r>
              <a:rPr lang="en-US" dirty="0">
                <a:solidFill>
                  <a:schemeClr val="bg1"/>
                </a:solidFill>
                <a:latin typeface="Times New Roman" panose="02020603050405020304" pitchFamily="18" charset="0"/>
                <a:cs typeface="Times New Roman" panose="02020603050405020304" pitchFamily="18" charset="0"/>
              </a:rPr>
              <a:t>. Ai </a:t>
            </a:r>
            <a:r>
              <a:rPr lang="en-US" dirty="0" err="1">
                <a:solidFill>
                  <a:schemeClr val="bg1"/>
                </a:solidFill>
                <a:latin typeface="Times New Roman" panose="02020603050405020304" pitchFamily="18" charset="0"/>
                <a:cs typeface="Times New Roman" panose="02020603050405020304" pitchFamily="18" charset="0"/>
              </a:rPr>
              <a:t>lejon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administratorin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lidhet</a:t>
            </a:r>
            <a:r>
              <a:rPr lang="en-US" dirty="0">
                <a:solidFill>
                  <a:schemeClr val="bg1"/>
                </a:solidFill>
                <a:latin typeface="Times New Roman" panose="02020603050405020304" pitchFamily="18" charset="0"/>
                <a:cs typeface="Times New Roman" panose="02020603050405020304" pitchFamily="18" charset="0"/>
              </a:rPr>
              <a:t> me </a:t>
            </a:r>
            <a:r>
              <a:rPr lang="en-US" dirty="0" err="1">
                <a:solidFill>
                  <a:schemeClr val="bg1"/>
                </a:solidFill>
                <a:latin typeface="Times New Roman" panose="02020603050405020304" pitchFamily="18" charset="0"/>
                <a:cs typeface="Times New Roman" panose="02020603050405020304" pitchFamily="18" charset="0"/>
              </a:rPr>
              <a:t>një</a:t>
            </a:r>
            <a:r>
              <a:rPr lang="en-US" dirty="0">
                <a:solidFill>
                  <a:schemeClr val="bg1"/>
                </a:solidFill>
                <a:latin typeface="Times New Roman" panose="02020603050405020304" pitchFamily="18" charset="0"/>
                <a:cs typeface="Times New Roman" panose="02020603050405020304" pitchFamily="18" charset="0"/>
              </a:rPr>
              <a:t> router </a:t>
            </a:r>
            <a:r>
              <a:rPr lang="en-US" dirty="0" err="1">
                <a:solidFill>
                  <a:schemeClr val="bg1"/>
                </a:solidFill>
                <a:latin typeface="Times New Roman" panose="02020603050405020304" pitchFamily="18" charset="0"/>
                <a:cs typeface="Times New Roman" panose="02020603050405020304" pitchFamily="18" charset="0"/>
              </a:rPr>
              <a:t>ose</a:t>
            </a:r>
            <a:r>
              <a:rPr lang="en-US" dirty="0">
                <a:solidFill>
                  <a:schemeClr val="bg1"/>
                </a:solidFill>
                <a:latin typeface="Times New Roman" panose="02020603050405020304" pitchFamily="18" charset="0"/>
                <a:cs typeface="Times New Roman" panose="02020603050405020304" pitchFamily="18" charset="0"/>
              </a:rPr>
              <a:t> switch </a:t>
            </a:r>
            <a:r>
              <a:rPr lang="en-US" dirty="0" err="1">
                <a:solidFill>
                  <a:schemeClr val="bg1"/>
                </a:solidFill>
                <a:latin typeface="Times New Roman" panose="02020603050405020304" pitchFamily="18" charset="0"/>
                <a:cs typeface="Times New Roman" panose="02020603050405020304" pitchFamily="18" charset="0"/>
              </a:rPr>
              <a:t>dhe</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ekzekutojë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komanda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nga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larg</a:t>
            </a:r>
            <a:r>
              <a:rPr lang="en-US" dirty="0">
                <a:solidFill>
                  <a:schemeClr val="bg1"/>
                </a:solidFill>
                <a:latin typeface="Times New Roman" panose="02020603050405020304" pitchFamily="18" charset="0"/>
                <a:cs typeface="Times New Roman" panose="02020603050405020304" pitchFamily="18" charset="0"/>
              </a:rPr>
              <a:t>.</a:t>
            </a:r>
          </a:p>
          <a:p>
            <a:endParaRPr lang="en-US" dirty="0">
              <a:solidFill>
                <a:schemeClr val="bg1"/>
              </a:solidFill>
              <a:latin typeface="Times New Roman" panose="02020603050405020304" pitchFamily="18" charset="0"/>
              <a:cs typeface="Times New Roman" panose="02020603050405020304" pitchFamily="18" charset="0"/>
            </a:endParaRPr>
          </a:p>
          <a:p>
            <a:pPr algn="ctr"/>
            <a:r>
              <a:rPr lang="en-US" dirty="0" err="1">
                <a:solidFill>
                  <a:schemeClr val="bg1"/>
                </a:solidFill>
                <a:latin typeface="Times New Roman" panose="02020603050405020304" pitchFamily="18" charset="0"/>
                <a:cs typeface="Times New Roman" panose="02020603050405020304" pitchFamily="18" charset="0"/>
              </a:rPr>
              <a:t>Për</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realizuar</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lidhjen</a:t>
            </a:r>
            <a:r>
              <a:rPr lang="en-US" dirty="0">
                <a:solidFill>
                  <a:schemeClr val="bg1"/>
                </a:solidFill>
                <a:latin typeface="Times New Roman" panose="02020603050405020304" pitchFamily="18" charset="0"/>
                <a:cs typeface="Times New Roman" panose="02020603050405020304" pitchFamily="18" charset="0"/>
              </a:rPr>
              <a:t> me Telnet </a:t>
            </a:r>
            <a:r>
              <a:rPr lang="en-US" dirty="0" err="1">
                <a:solidFill>
                  <a:schemeClr val="bg1"/>
                </a:solidFill>
                <a:latin typeface="Times New Roman" panose="02020603050405020304" pitchFamily="18" charset="0"/>
                <a:cs typeface="Times New Roman" panose="02020603050405020304" pitchFamily="18" charset="0"/>
              </a:rPr>
              <a:t>nga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një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kompjuter</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në</a:t>
            </a:r>
            <a:r>
              <a:rPr lang="en-US" dirty="0">
                <a:solidFill>
                  <a:schemeClr val="bg1"/>
                </a:solidFill>
                <a:latin typeface="Times New Roman" panose="02020603050405020304" pitchFamily="18" charset="0"/>
                <a:cs typeface="Times New Roman" panose="02020603050405020304" pitchFamily="18" charset="0"/>
              </a:rPr>
              <a:t> Cisco Packet Tracer, </a:t>
            </a:r>
            <a:r>
              <a:rPr lang="en-US" dirty="0" err="1">
                <a:solidFill>
                  <a:schemeClr val="bg1"/>
                </a:solidFill>
                <a:latin typeface="Times New Roman" panose="02020603050405020304" pitchFamily="18" charset="0"/>
                <a:cs typeface="Times New Roman" panose="02020603050405020304" pitchFamily="18" charset="0"/>
              </a:rPr>
              <a:t>përdoret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komanda:telnet</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192.168.1.1</a:t>
            </a:r>
          </a:p>
          <a:p>
            <a:pPr algn="ctr"/>
            <a:r>
              <a:rPr lang="en-US" dirty="0">
                <a:solidFill>
                  <a:schemeClr val="bg1"/>
                </a:solidFill>
                <a:latin typeface="Times New Roman" panose="02020603050405020304" pitchFamily="18" charset="0"/>
                <a:cs typeface="Times New Roman" panose="02020603050405020304" pitchFamily="18" charset="0"/>
              </a:rPr>
              <a:t>Pas </a:t>
            </a:r>
            <a:r>
              <a:rPr lang="en-US" dirty="0" err="1">
                <a:solidFill>
                  <a:schemeClr val="bg1"/>
                </a:solidFill>
                <a:latin typeface="Times New Roman" panose="02020603050405020304" pitchFamily="18" charset="0"/>
                <a:cs typeface="Times New Roman" panose="02020603050405020304" pitchFamily="18" charset="0"/>
              </a:rPr>
              <a:t>kësaj</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nëse</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pajisja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është</a:t>
            </a:r>
            <a:r>
              <a:rPr lang="en-US" dirty="0">
                <a:solidFill>
                  <a:schemeClr val="bg1"/>
                </a:solidFill>
                <a:latin typeface="Times New Roman" panose="02020603050405020304" pitchFamily="18" charset="0"/>
                <a:cs typeface="Times New Roman" panose="02020603050405020304" pitchFamily="18" charset="0"/>
              </a:rPr>
              <a:t> e </a:t>
            </a:r>
            <a:r>
              <a:rPr lang="en-US" dirty="0" err="1">
                <a:solidFill>
                  <a:schemeClr val="bg1"/>
                </a:solidFill>
                <a:latin typeface="Times New Roman" panose="02020603050405020304" pitchFamily="18" charset="0"/>
                <a:cs typeface="Times New Roman" panose="02020603050405020304" pitchFamily="18" charset="0"/>
              </a:rPr>
              <a:t>konfiguruar</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si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duhet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sistemi</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kërkon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kredencialet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për</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autentikim</a:t>
            </a:r>
            <a:r>
              <a:rPr lang="en-US" dirty="0">
                <a:solidFill>
                  <a:schemeClr val="bg1"/>
                </a:solidFill>
                <a:latin typeface="Times New Roman" panose="02020603050405020304" pitchFamily="18" charset="0"/>
                <a:cs typeface="Times New Roman" panose="02020603050405020304" pitchFamily="18" charset="0"/>
              </a:rPr>
              <a:t> (username </a:t>
            </a:r>
            <a:r>
              <a:rPr lang="en-US" dirty="0" err="1">
                <a:solidFill>
                  <a:schemeClr val="bg1"/>
                </a:solidFill>
                <a:latin typeface="Times New Roman" panose="02020603050405020304" pitchFamily="18" charset="0"/>
                <a:cs typeface="Times New Roman" panose="02020603050405020304" pitchFamily="18" charset="0"/>
              </a:rPr>
              <a:t>dhe</a:t>
            </a:r>
            <a:r>
              <a:rPr lang="en-US" dirty="0">
                <a:solidFill>
                  <a:schemeClr val="bg1"/>
                </a:solidFill>
                <a:latin typeface="Times New Roman" panose="02020603050405020304" pitchFamily="18" charset="0"/>
                <a:cs typeface="Times New Roman" panose="02020603050405020304" pitchFamily="18" charset="0"/>
              </a:rPr>
              <a:t> password).</a:t>
            </a:r>
          </a:p>
          <a:p>
            <a:pPr algn="ctr"/>
            <a:r>
              <a:rPr lang="en-US" dirty="0" err="1">
                <a:solidFill>
                  <a:schemeClr val="bg1"/>
                </a:solidFill>
                <a:latin typeface="Times New Roman" panose="02020603050405020304" pitchFamily="18" charset="0"/>
                <a:cs typeface="Times New Roman" panose="02020603050405020304" pitchFamily="18" charset="0"/>
              </a:rPr>
              <a:t>Në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anën</a:t>
            </a:r>
            <a:r>
              <a:rPr lang="en-US" dirty="0">
                <a:solidFill>
                  <a:schemeClr val="bg1"/>
                </a:solidFill>
                <a:latin typeface="Times New Roman" panose="02020603050405020304" pitchFamily="18" charset="0"/>
                <a:cs typeface="Times New Roman" panose="02020603050405020304" pitchFamily="18" charset="0"/>
              </a:rPr>
              <a:t> e </a:t>
            </a:r>
            <a:r>
              <a:rPr lang="en-US" dirty="0" err="1">
                <a:solidFill>
                  <a:schemeClr val="bg1"/>
                </a:solidFill>
                <a:latin typeface="Times New Roman" panose="02020603050405020304" pitchFamily="18" charset="0"/>
                <a:cs typeface="Times New Roman" panose="02020603050405020304" pitchFamily="18" charset="0"/>
              </a:rPr>
              <a:t>routerit</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për</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të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mundësuar</a:t>
            </a:r>
            <a:r>
              <a:rPr lang="en-US" dirty="0">
                <a:solidFill>
                  <a:schemeClr val="bg1"/>
                </a:solidFill>
                <a:latin typeface="Times New Roman" panose="02020603050405020304" pitchFamily="18" charset="0"/>
                <a:cs typeface="Times New Roman" panose="02020603050405020304" pitchFamily="18" charset="0"/>
              </a:rPr>
              <a:t> Telnet, </a:t>
            </a:r>
            <a:r>
              <a:rPr lang="en-US" dirty="0" err="1">
                <a:solidFill>
                  <a:schemeClr val="bg1"/>
                </a:solidFill>
                <a:latin typeface="Times New Roman" panose="02020603050405020304" pitchFamily="18" charset="0"/>
                <a:cs typeface="Times New Roman" panose="02020603050405020304" pitchFamily="18" charset="0"/>
              </a:rPr>
              <a:t>përdoren</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këto</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komanda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në</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konfigurim</a:t>
            </a:r>
            <a:endParaRPr lang="en-US" dirty="0">
              <a:solidFill>
                <a:schemeClr val="bg1"/>
              </a:solidFill>
              <a:latin typeface="Times New Roman" panose="02020603050405020304" pitchFamily="18" charset="0"/>
              <a:cs typeface="Times New Roman" panose="02020603050405020304" pitchFamily="18" charset="0"/>
            </a:endParaRPr>
          </a:p>
          <a:p>
            <a:pPr marL="285750" indent="-285750" algn="ctr">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Enable</a:t>
            </a:r>
          </a:p>
          <a:p>
            <a:pPr marL="285750" indent="-285750" algn="ctr">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configure terminal </a:t>
            </a:r>
          </a:p>
          <a:p>
            <a:pPr marL="285750" indent="-285750" algn="ctr">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line </a:t>
            </a:r>
            <a:r>
              <a:rPr lang="en-US" dirty="0" err="1">
                <a:solidFill>
                  <a:schemeClr val="bg1"/>
                </a:solidFill>
                <a:latin typeface="Times New Roman" panose="02020603050405020304" pitchFamily="18" charset="0"/>
                <a:cs typeface="Times New Roman" panose="02020603050405020304" pitchFamily="18" charset="0"/>
              </a:rPr>
              <a:t>vty</a:t>
            </a:r>
            <a:r>
              <a:rPr lang="en-US" dirty="0">
                <a:solidFill>
                  <a:schemeClr val="bg1"/>
                </a:solidFill>
                <a:latin typeface="Times New Roman" panose="02020603050405020304" pitchFamily="18" charset="0"/>
                <a:cs typeface="Times New Roman" panose="02020603050405020304" pitchFamily="18" charset="0"/>
              </a:rPr>
              <a:t> 0 4</a:t>
            </a:r>
          </a:p>
          <a:p>
            <a:pPr marL="285750" indent="-285750" algn="ctr">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password cisco</a:t>
            </a:r>
          </a:p>
          <a:p>
            <a:pPr marL="285750" indent="-285750" algn="ctr">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Login</a:t>
            </a:r>
          </a:p>
          <a:p>
            <a:pPr marL="285750" indent="-285750" algn="ctr">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Transport input telnet</a:t>
            </a:r>
          </a:p>
          <a:p>
            <a:pPr algn="ctr"/>
            <a:endParaRPr lang="en-US"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523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1258</TotalTime>
  <Words>882</Words>
  <Application>Microsoft Office PowerPoint</Application>
  <PresentationFormat>Widescreen</PresentationFormat>
  <Paragraphs>107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leonida gjocaj</dc:creator>
  <cp:lastModifiedBy>leonida gjocaj</cp:lastModifiedBy>
  <cp:revision>4</cp:revision>
  <dcterms:created xsi:type="dcterms:W3CDTF">2026-05-17T15:32:42Z</dcterms:created>
  <dcterms:modified xsi:type="dcterms:W3CDTF">2026-06-14T16:44:20Z</dcterms:modified>
</cp:coreProperties>
</file>